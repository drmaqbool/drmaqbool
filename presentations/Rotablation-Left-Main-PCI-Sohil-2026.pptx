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theme/theme2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2" r:id="rId8"/>
    <p:sldId id="266" r:id="rId17"/>
    <p:sldId id="263" r:id="rId9"/>
    <p:sldId id="260" r:id="rId6"/>
    <p:sldId id="261" r:id="rId7"/>
    <p:sldId id="267" r:id="rId18"/>
    <p:sldId id="268" r:id="rId19"/>
    <p:sldId id="269" r:id="rId20"/>
    <p:sldId id="270" r:id="rId21"/>
    <p:sldId id="271" r:id="rId22"/>
    <p:sldId id="272" r:id="rId23"/>
    <p:sldId id="264" r:id="rId10"/>
    <p:sldId id="265" r:id="rId11"/>
  </p:sldIdLst>
  <p:sldSz cx="9144000" cy="5143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Event rate as reported (%)</c:v>
                </c:pt>
              </c:strCache>
            </c:strRef>
          </c:tx>
          <c:spPr>
            <a:solidFill>
              <a:srgbClr val="0B3D6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8102E"/>
              </a:solidFill>
            </c:spPr>
          </c:dPt>
          <c:dPt>
            <c:idx val="1"/>
            <c:invertIfNegative val="0"/>
            <c:bubble3D val="0"/>
            <c:spPr>
              <a:solidFill>
                <a:srgbClr val="C8102E"/>
              </a:solidFill>
            </c:spPr>
          </c:dPt>
          <c:dLbls>
            <c:numFmt formatCode="0.0&quot;%&quot;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0B3D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This study: in-hosp. death</c:v>
                </c:pt>
                <c:pt idx="1">
                  <c:v>This study: 2-yr TLR</c:v>
                </c:pt>
                <c:pt idx="2">
                  <c:v>ROTATE: in-hosp. MACE</c:v>
                </c:pt>
                <c:pt idx="3">
                  <c:v>Bouisset: 1-yr MACE</c:v>
                </c:pt>
                <c:pt idx="4">
                  <c:v>Garcia-Lara: 2-yr TVR</c:v>
                </c:pt>
                <c:pt idx="5">
                  <c:v>ROTATE: 2-yr MACE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</c:v>
                </c:pt>
                <c:pt idx="1">
                  <c:v>2.2</c:v>
                </c:pt>
                <c:pt idx="2">
                  <c:v>8.3</c:v>
                </c:pt>
                <c:pt idx="3">
                  <c:v>13.2</c:v>
                </c:pt>
                <c:pt idx="4">
                  <c:v>19.3</c:v>
                </c:pt>
                <c:pt idx="5">
                  <c:v>24.9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2000" u="none">
                  <a:solidFill>
                    <a:srgbClr val="0B3D6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1"/>
        <c:axPos val="b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CAD profile, % of 45 patients</c:v>
                </c:pt>
              </c:strCache>
            </c:strRef>
          </c:tx>
          <c:spPr>
            <a:solidFill>
              <a:srgbClr val="0B3D66"/>
            </a:solidFill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C8102E"/>
              </a:solidFill>
            </c:spPr>
          </c:dPt>
          <c:dLbls>
            <c:numFmt formatCode="0.0&quot;%&quot;" sourceLinked="0"/>
            <c:txPr>
              <a:bodyPr/>
              <a:lstStyle/>
              <a:p>
                <a:pPr>
                  <a:defRPr b="1" i="0" strike="noStrike" sz="2400" u="none">
                    <a:solidFill>
                      <a:srgbClr val="0B3D6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Isolated LMCA</c:v>
                </c:pt>
                <c:pt idx="1">
                  <c:v>LMCA + SVD</c:v>
                </c:pt>
                <c:pt idx="2">
                  <c:v>LMCA + DVD</c:v>
                </c:pt>
                <c:pt idx="3">
                  <c:v>LMCA + TVD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4.4</c:v>
                </c:pt>
                <c:pt idx="1">
                  <c:v>13.3</c:v>
                </c:pt>
                <c:pt idx="2">
                  <c:v>20.0</c:v>
                </c:pt>
                <c:pt idx="3">
                  <c:v>62.2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2400" u="none">
                  <a:solidFill>
                    <a:srgbClr val="0B3D6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50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centre experience of rotablation-assisted left main percutaneous coronary intervention.</a:t>
            </a:r>
          </a:p>
          <a:p>
            <a:r>
              <a:rPr lang="en-US" dirty="0"/>
              <a:t>Authors: Mohd Maqbool Sohil (a), Ishtiyaq Masood (b, corresponding author), Dixit Goyal (b), Haider Rashid (a).</a:t>
            </a:r>
          </a:p>
          <a:p>
            <a:r>
              <a:rPr lang="en-US" dirty="0"/>
              <a:t>(a) Paras Hospital Srinagar, Jammu and Kashmir, India; (b) Max Hospital Bathinda, Punjab, India.</a:t>
            </a:r>
          </a:p>
          <a:p>
            <a:r>
              <a:rPr lang="en-US" dirty="0"/>
              <a:t>American Heart Journal Plus: Cardiology Research and Practice 61 (2026) 100678. https://doi.org/10.1016/j.ahjo.2025.100678</a:t>
            </a:r>
          </a:p>
          <a:p>
            <a:r>
              <a:rPr lang="en-US" dirty="0"/>
              <a:t>Received 20 August 2025; revised 12 November 2025; accepted 13 November 2025; available online 20 November 2025. Open access (CC BY-NC-ND 4.0).</a:t>
            </a:r>
          </a:p>
          <a:p>
            <a:r>
              <a:rPr lang="en-US" dirty="0"/>
              <a:t>Presenter: Dr. Mohd Maqbool Sohil, MD, DM, FSCAI, Interventional Cardiologist.</a:t>
            </a:r>
          </a:p>
          <a:p>
            <a:r>
              <a:rPr lang="en-US" dirty="0"/>
              <a:t>Objective (abstract): to assess in-hospital and two-year clinical outcomes of patients undergoing rotablation-assisted left main PCI at our centre.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454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Background (abstract and Introduction).</a:t>
            </a:r>
          </a:p>
          <a:p>
            <a:r>
              <a:rPr lang="en-US" dirty="0"/>
              <a:t>CABG is a class I indication in suitable surgical candidates with significant left main stenosis and anatomically complex CAD, and has shown superior long-term outcomes versus PCI, especially in diabetes mellitus [refs 1-4 in the article].</a:t>
            </a:r>
          </a:p>
          <a:p>
            <a:r>
              <a:rPr lang="en-US" dirty="0"/>
              <a:t>CABG has limitations in patients with left main disease and a high SYNTAX score; some patients are unsuitable for surgery owing to high surgical risk, and limited centres offer CABG, particularly in our part of the world.</a:t>
            </a:r>
          </a:p>
          <a:p>
            <a:r>
              <a:rPr lang="en-US" dirty="0"/>
              <a:t>PCI has emerged as a viable alternative for patients unsuitable for surgery [5]. In some regions, cultural or religious beliefs and unavailability of cardiac surgery leave PCI as the only option, as medical management alone is associated with high mortality.</a:t>
            </a:r>
          </a:p>
          <a:p>
            <a:r>
              <a:rPr lang="en-US" dirty="0"/>
              <a:t>Significant coronary calcification, particularly in the LMCA, makes PCI challenging: calcified plaques often resist balloon dilatation and deployed stents may remain underexpanded, leading to short- and long-term adverse outcomes [6-8].</a:t>
            </a:r>
          </a:p>
          <a:p>
            <a:r>
              <a:rPr lang="en-US" dirty="0"/>
              <a:t>Rotablation facilitates lesion debulking, enhances device deliverability and improves stent expansion [9,10]. Unprotected LM PCI remains technically challenging because of the large myocardial territory at risk, bifurcation involvement with an important side branch, and the need for haemodynamic support with LV dysfunction.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26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region-specific data are needed (Introduction).</a:t>
            </a:r>
          </a:p>
          <a:p>
            <a:r>
              <a:rPr lang="en-US" dirty="0"/>
              <a:t>Several international studies and registries have examined rotablation-assisted PCI in LMCA lesions, but there is much less evidence from the Indian subcontinent.</a:t>
            </a:r>
          </a:p>
          <a:p>
            <a:r>
              <a:rPr lang="en-US" dirty="0"/>
              <a:t>In India, patients often present with left main disease associated with extensive, multivessel and heavily calcified CAD, probably because of delayed diagnosis, inadequate access to primary preventive care, and a high burden of metabolic conditions, including diabetes mellitus and dyslipidemia.</a:t>
            </a:r>
          </a:p>
          <a:p>
            <a:r>
              <a:rPr lang="en-US" dirty="0"/>
              <a:t>CAD manifests a decade earlier than in the Western population [14].</a:t>
            </a:r>
          </a:p>
          <a:p>
            <a:r>
              <a:rPr lang="en-US" dirty="0"/>
              <a:t>Compliance with dual antiplatelet therapy (DAPT) may be challenging in the developing world because of financial constraints and lack of awareness.</a:t>
            </a:r>
          </a:p>
          <a:p>
            <a:r>
              <a:rPr lang="en-US" dirty="0"/>
              <a:t>These distinct demographic and clinical characteristics underscore the need for region-specific data, as outcomes observed in Western populations may not be directly applicable to the Indian context.</a:t>
            </a:r>
          </a:p>
          <a:p>
            <a:r>
              <a:rPr lang="en-US" dirty="0"/>
              <a:t>Hence the study aim: evaluate clinical features, angiographic and procedural characteristics, and in-hospital and two-year outcomes of rotablation-assisted PCI of severely calcified LMCA lesions at a tertiary care centre in India.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6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Aim (Introduction): to evaluate the clinical features, angiographic and procedural characteristics, and in-hospital and two-year outcomes of rotablation-assisted PCI of severely calcified LMCA lesions at a tertiary care centre in India.</a:t>
            </a:r>
          </a:p>
          <a:p>
            <a:r>
              <a:rPr lang="en-US" dirty="0"/>
              <a:t>Design (Methods 2.1): prospective observational study of 45 consecutive patients who underwent rotablation-assisted PCI for severely calcified left main coronary artery lesions from January 1, 2020, to January 1, 2023. Approved by the Institutional Ethics Committee.</a:t>
            </a:r>
          </a:p>
          <a:p>
            <a:r>
              <a:rPr lang="en-US" dirty="0"/>
              <a:t>Follow-up (2.6): clinical follow-up at predetermined times up to two years post-procedure via structured telephone interviews with patients or family members; 100% completion of follow-up interviews.</a:t>
            </a:r>
          </a:p>
          <a:p>
            <a:r>
              <a:rPr lang="en-US" dirty="0"/>
              <a:t>Results 3.4.2: two-year follow-up accomplished in all patients (100%) for an average of 24.3 ± 2.1 months.</a:t>
            </a:r>
          </a:p>
          <a:p>
            <a:r>
              <a:rPr lang="en-US" dirty="0"/>
              <a:t>Medication protocol: DAPT with aspirin 75 mg daily plus clopidogrel 75 mg daily, ticagrelor 90 mg twice daily, or prasugrel 10 mg daily for one year, then indefinite aspirin 75 mg daily.</a:t>
            </a:r>
          </a:p>
          <a:p>
            <a:r>
              <a:rPr lang="en-US" dirty="0"/>
              <a:t>Statistics (2.7): mean ± SD (median/IQR if non-normal; Shapiro-Wilk), Pearson / Spearman correlation, Fisher's exact test, Kaplan-Meier for overall survival; p &lt; 0.05 significant; SPSS version 25.0; 95% CIs for correlation coefficients.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1570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1. Baseline clinical and demographic characteristics (n = 45). Full table:</a:t>
            </a:r>
          </a:p>
          <a:p>
            <a:r>
              <a:rPr lang="en-US" dirty="0"/>
              <a:t>Demographics: age 75.2 ± 5.9 years; gender male/female 31/14 (68.9%/31.1%).</a:t>
            </a:r>
          </a:p>
          <a:p>
            <a:r>
              <a:rPr lang="en-US" dirty="0"/>
              <a:t>Risk factors: hypertension 38 (84.4%); diabetes mellitus 25 (55.6%); dyslipidemia 16 (35.6%); current smoker 4 (8.9%).</a:t>
            </a:r>
          </a:p>
          <a:p>
            <a:r>
              <a:rPr lang="en-US" dirty="0"/>
              <a:t>Medical history: previous MI 12 (26.7%); previous PCI 15 (33.3%); previous CABG 11 (24.4%); previous stroke 1 (2.2%); peripheral arterial disease 8 (17.8%); CKD 2 (4.4%); COPD 3 (6.7%).</a:t>
            </a:r>
          </a:p>
          <a:p>
            <a:r>
              <a:rPr lang="en-US" dirty="0"/>
              <a:t>Clinical presentation: unstable angina 13 (28.9%); chronic stable angina 6 (13.3%); STEMI 2 (4.4%); NSTEMI 24 (53.3%).</a:t>
            </a:r>
          </a:p>
          <a:p>
            <a:r>
              <a:rPr lang="en-US" dirty="0"/>
              <a:t>LVEF 43.3 ± 8.1%; SYNTAX score 40.1 ± 8.2; EuroSCORE II 5.4 ± 1.9.</a:t>
            </a:r>
          </a:p>
          <a:p>
            <a:r>
              <a:rPr lang="en-US" dirty="0"/>
              <a:t>Text (Results 3.1): an elderly population in the intermediate- to high-risk surgical group; acute coronary syndromes were the predominant presentation, NSTEMI most frequent (53.3%), followed by unstable angina (28.9%).</a:t>
            </a:r>
          </a:p>
          <a:p>
            <a:r>
              <a:rPr lang="en-US" dirty="0"/>
              <a:t>Slide shows a selection of rows; "Diabetes" = diabetes mellitus; "NSTEMI" = clinical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493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2. Angiographic characteristics (n = 45). Chart shows the CAD profile (% of 45 patients): isolated LMCA 2 (4.4%); LMCA + SVD 6 (13.3%); LMCA + DVD 9 (20.0%); LMCA + TVD 28 (62.2%).</a:t>
            </a:r>
          </a:p>
          <a:p>
            <a:r>
              <a:rPr lang="en-US" dirty="0"/>
              <a:t>LMCA stenosis location: ostium 3 (6.7%); mid 14 (31.1%); distal 28 (62.2%).</a:t>
            </a:r>
          </a:p>
          <a:p>
            <a:r>
              <a:rPr lang="en-US" dirty="0"/>
              <a:t>LMCA diameter stenosis: mean 69.8 ± 12.5%; median 75%; range printed in Table 2 as "8–85" % (reproduced as printed; not shown on the slide).</a:t>
            </a:r>
          </a:p>
          <a:p>
            <a:r>
              <a:rPr lang="en-US" dirty="0"/>
              <a:t>LMCA calcification: mild 0 (0%); moderate 6 (13.3%); severe 39 (86.7%).</a:t>
            </a:r>
          </a:p>
          <a:p>
            <a:r>
              <a:rPr lang="en-US" dirty="0"/>
              <a:t>Medina classification: 1,0,0 2 (4.4%); 0,1,0 2 (4.4%); 1,1,0 5 (11.1%); 0,1,1 15 (33.3%); 1,0,1 4 (8.9%); 1,1,1 17 (37.8%).</a:t>
            </a:r>
          </a:p>
          <a:p>
            <a:r>
              <a:rPr lang="en-US" dirty="0"/>
              <a:t>True bifurcation lesion (abstract): 71.1% (n = 32).</a:t>
            </a:r>
          </a:p>
          <a:p>
            <a:r>
              <a:rPr lang="en-US" dirty="0"/>
              <a:t>SVD/DVD/TVD: single-, double-, triple-vessel disease.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450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Fig. 1 (article): flow diagram showing methodology for patient selection. Assessed for eligibility n = 67; excluded n = 22 (refused consent 8, cardiogenic shock 4, life expectancy &lt; 1 year 3, previous study participation 2, DAPT contraindication 2, lost to follow-up 2, alternative strategy 1); n = 45 rotational atherectomy + stent implantation; analysed n = 45 (0 patients lost to follow-up, 100% follow-up completion); final analysis n = 45.</a:t>
            </a:r>
          </a:p>
          <a:p>
            <a:r>
              <a:rPr lang="en-US" dirty="0"/>
              <a:t>Figure inclusion criteria: age 18-85 years; severe calcification; lesions unsuitable for conventional balloon angioplasty; intact cognition with ability to give informed consent.</a:t>
            </a:r>
          </a:p>
          <a:p>
            <a:r>
              <a:rPr lang="en-US" dirty="0"/>
              <a:t>Methods 2.2: all patients underwent coronary angiography and SYNTAX score calculation and were discussed in the heart team, which decided the optimal revascularization strategy. Patients with high SYNTAX scores (&gt;32) were advised to undergo CABG. Patients who chose PCI after appropriate discussion of risks and benefits across the entire risk spectrum were considered for PCI.</a:t>
            </a:r>
          </a:p>
          <a:p>
            <a:r>
              <a:rPr lang="en-US" dirty="0"/>
              <a:t>Inclusion criteria (text): LMCA diameter stenosis ≥50% with severe angiographic calcification or IVUS calcium score ≥2, and volition for rotablation-assisted PCI.</a:t>
            </a:r>
          </a:p>
          <a:p>
            <a:r>
              <a:rPr lang="en-US" dirty="0"/>
              <a:t>IVUS calcium score (range 1-4): 1 point each for calcium &gt;270° in ≥5 mm, 360° calcium, calcified nodule, and vessel diameter &lt; 3.5 mm.</a:t>
            </a:r>
          </a:p>
          <a:p>
            <a:r>
              <a:rPr lang="en-US" dirty="0"/>
              <a:t>Note for presenter: the figure box states follow-up "Mean: 24±12 months", whereas the Results text states 24.3 ± 2.1 months; the figure is reproduced exactly as published.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5185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 definitions (Methods 2.5).</a:t>
            </a:r>
          </a:p>
          <a:p>
            <a:r>
              <a:rPr lang="en-US" dirty="0"/>
              <a:t>Angiographic success: &lt;20% residual stenosis with TIMI grade 3 flow [18].</a:t>
            </a:r>
          </a:p>
          <a:p>
            <a:r>
              <a:rPr lang="en-US" dirty="0"/>
              <a:t>Procedural success: angiographic success without any major complications, in-hospital mortality, myocardial infarction, or emergency revascularization.</a:t>
            </a:r>
          </a:p>
          <a:p>
            <a:r>
              <a:rPr lang="en-US" dirty="0"/>
              <a:t>MACE: cardiac death, nonfatal myocardial infarction, and target lesion revascularization (TLR).</a:t>
            </a:r>
          </a:p>
          <a:p>
            <a:r>
              <a:rPr lang="en-US" dirty="0"/>
              <a:t>Cardiac death: death due to a cardiac cause. TLR: ischaemia-driven repeat revascularization of the target lesion with ≥50% angiographic diameter stenosis by QCA or positive fractional flow reserve.</a:t>
            </a:r>
          </a:p>
          <a:p>
            <a:r>
              <a:rPr lang="en-US" dirty="0"/>
              <a:t>Stent thrombosis: Academic Research Consortium definitions — definite (angiographic or pathological confirmation), probable (unexplained death within 30 days, or MI in the target-vessel territory without angiographic confirmation), possible (unexplained death after 30 days) [19].</a:t>
            </a:r>
          </a:p>
          <a:p>
            <a:r>
              <a:rPr lang="en-US" dirty="0"/>
              <a:t>Stroke: sudden-onset focal neurological deficit persisting &gt;24 h attributable to a cerebrovascular lesion. Bleeding: Bleeding Academic Research Consortium criteria [20].</a:t>
            </a:r>
          </a:p>
          <a:p>
            <a:r>
              <a:rPr lang="en-US" dirty="0"/>
              <a:t>In-hospital outcomes are reported in Table 4; two-year outcomes and MACE in Table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3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Take-home messages, from the article's Conclusion (Section 5) and abstract only:</a:t>
            </a:r>
          </a:p>
          <a:p>
            <a:r>
              <a:rPr lang="en-US" dirty="0"/>
              <a:t>Rotablation-assisted PCI is a technically feasible and clinically effective revascularization strategy in selected high-risk patients with severely calcified left main lesions; the abstract concludes it is safe and effective.</a:t>
            </a:r>
          </a:p>
          <a:p>
            <a:r>
              <a:rPr lang="en-US" dirty="0"/>
              <a:t>It showed good procedural success (97.8%; angiographic success 100%), a low rate of periprocedural complications, and durable clinical outcomes over two years of follow-up (in-hospital mortality 2.2%; two-year MACE-free survival 93.3%).</a:t>
            </a:r>
          </a:p>
          <a:p>
            <a:r>
              <a:rPr lang="en-US" dirty="0"/>
              <a:t>The results support the evolving role of complex PCI techniques, including plaque modification and intravascular imaging, in heavily calcified LMCA disease, particularly for patients who are not surgical candidates.</a:t>
            </a:r>
          </a:p>
          <a:p>
            <a:r>
              <a:rPr lang="en-US" dirty="0"/>
              <a:t>This was a small, single-centre study; multicentre prospective studies are needed to confirm the findings and develop standardized protocols for calcified left main lesions in various healthcare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62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Questions and discussion.</a:t>
            </a:r>
          </a:p>
          <a:p>
            <a:r>
              <a:rPr lang="en-US" dirty="0"/>
              <a:t>Presenter: Dr. Mohd Maqbool Sohil, MD, DM, FSCAI, Interventional Cardiologist. Website: drmaqboolsohil.deed.page</a:t>
            </a:r>
          </a:p>
          <a:p>
            <a:r>
              <a:rPr lang="en-US" dirty="0"/>
              <a:t>Citation: Sohil MM, Masood I, Goyal D, Rashid H. Single centre experience of rotablation-assisted left main percutaneous coronary intervention. American Heart Journal Plus: Cardiology Research and Practice 2026;61:100678. https://doi.org/10.1016/j.ahjo.2025.100678</a:t>
            </a:r>
          </a:p>
          <a:p>
            <a:r>
              <a:rPr lang="en-US" dirty="0"/>
              <a:t>Open access article under the CC BY-NC-ND 4.0 licence (http://creativecommons.org/licenses/by-nc-nd/4.0/). Published by Elsevier Inc.</a:t>
            </a:r>
          </a:p>
          <a:p>
            <a:r>
              <a:rPr lang="en-US" dirty="0"/>
              <a:t>Affiliations: Paras Hospital Srinagar, Jammu and Kashmir, India; Max Hospital Bathinda, Punjab, India.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173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PCI protocol and rotablation technique (Methods 2.4).</a:t>
            </a:r>
          </a:p>
          <a:p>
            <a:r>
              <a:rPr lang="en-US" dirty="0"/>
              <a:t>Loading doses of aspirin 300 mg and clopidogrel 600 mg before the procedure.</a:t>
            </a:r>
          </a:p>
          <a:p>
            <a:r>
              <a:rPr lang="en-US" dirty="0"/>
              <a:t>Rotablation was performed when the operator judged angiographic calcification severe, often confirmed with IVUS; decision at operator discretion.</a:t>
            </a:r>
          </a:p>
          <a:p>
            <a:r>
              <a:rPr lang="en-US" dirty="0"/>
              <a:t>Rotablator RA system (Boston Scientific, Marlborough, MA, USA). Burrs 1.25 mm to 2.0 mm, operated at 140,000 to 180,000 rpm. Multiple burrs used when clinically necessary. Target burr-artery ratio 0.7.</a:t>
            </a:r>
          </a:p>
          <a:p>
            <a:r>
              <a:rPr lang="en-US" dirty="0"/>
              <a:t>Burr advancement periods kept &lt; 30 s to decrease thermal injury. Continuous infusion of normal saline, heparin and nitroglycerin during atherectomy to reduce heat generation and coronary spasm.</a:t>
            </a:r>
          </a:p>
          <a:p>
            <a:r>
              <a:rPr lang="en-US" dirty="0"/>
              <a:t>After rotablation, balloon pre-dilatation as necessary (semicompliant or noncompliant balloons; no specialized balloons or intravascular lithotripsy), followed by drug-eluting stent deployment. Predilatation was done in all patients after rotablation except one with acute coronary syndrome and a balloon-undilatable lesion.</a:t>
            </a:r>
          </a:p>
          <a:p>
            <a:r>
              <a:rPr lang="en-US" dirty="0"/>
              <a:t>Stenting strategy at operator discretion: single-stent or two-stent (DK CRUSH or TAP). IVUS used when considered necessary; IABP according to haemodynamics and operator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83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3. Procedural characteristics (n = 45). Full table:</a:t>
            </a:r>
          </a:p>
          <a:p>
            <a:r>
              <a:rPr lang="en-US" dirty="0"/>
              <a:t>Access: radial 7 (15.6%); femoral 38 (84.4%); 6F 0 (0%); 7F 45 (100%).</a:t>
            </a:r>
          </a:p>
          <a:p>
            <a:r>
              <a:rPr lang="en-US" dirty="0"/>
              <a:t>PCI technique: provisional 11 (24.4%); two-stent 34 (75.6%). Two-stent technique: DK CRUSH 32 (71.1%); TAP 2 (4.4%).</a:t>
            </a:r>
          </a:p>
          <a:p>
            <a:r>
              <a:rPr lang="en-US" dirty="0"/>
              <a:t>Procedural parameters: IVUS 34 (75.6%); maximum rota burr size 1.50 ± 0.13 mm; rota burrs per patient 1.11 ± 0.31; stent length 22.98 ± 6.54 mm; stent diameter 3.49 ± 0.40 mm; final kissing balloon inflation 34 (75.6%); contrast volume 115.78 ± 17.45 ml; fluoroscopy time 22.56 ± 5.69 min; IABP 7 (15.6%); GP IIb/IIIa inhibitor 31 (68.9%).</a:t>
            </a:r>
          </a:p>
          <a:p>
            <a:r>
              <a:rPr lang="en-US" dirty="0"/>
              <a:t>Results 3.3: all procedures used 7F guide catheters. No serious procedural complications such as coronary perforation, acute vessel closure, or no-reflow. Minor complications: transient bradycardia requiring temporary pacing in 2 patients (4.4%) and access-site haematoma in 1 patient (2.2%).</a:t>
            </a:r>
          </a:p>
          <a:p>
            <a:r>
              <a:rPr lang="en-US" dirty="0"/>
              <a:t>Abbreviations: DK CRUSH, double-kissing crush; TAP, T and small protrusion; IABP, intra-aortic balloon pump; GP, glycoprotein.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995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4. In-hospital clinical and procedural outcomes: angiographic success 45 (100.0%); procedural success 44 (97.8%); emergent CABG 0 (0%); in-hospital death 1 (2.2%).</a:t>
            </a:r>
          </a:p>
          <a:p>
            <a:r>
              <a:rPr lang="en-US" dirty="0"/>
              <a:t>Results 3.4.1: all patients achieved &lt;20% residual stenosis with TIMI 3 flow. Procedural success 97.8% (44/45) without any emergency CABG. In-hospital mortality 2.2% (1/45): one cardiac death during the index hospitalization.</a:t>
            </a:r>
          </a:p>
          <a:p>
            <a:r>
              <a:rPr lang="en-US" dirty="0"/>
              <a:t>That patient presented with new-onset LBBB and severe LV dysfunction (LVEF 25%), treated as a STEMI equivalent; balloon-undilatable distal left main and ostioproximal LAD lesion treated with rotational atherectomy with IABP support. Angiographic success was achieved, but he developed refractory cardiogenic shock and hospital-acquired pneumonia with MODS.</a:t>
            </a:r>
          </a:p>
          <a:p>
            <a:r>
              <a:rPr lang="en-US" dirty="0"/>
              <a:t>Table 7 (IVUS subgroup): procedural success 12/13 (92.3%) without IVUS vs 32/32 (100%) with IVUS, p = 0.289 (Fisher's exact); in-hospital death 1 (7.69%) vs 0, p = 0.289.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0915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Fig. 2 (article): Kaplan-Meier survival analysis curve to assess OVERALL survival; Results: overall survival of 97.78% at two-year follow-up; the single event was the in-hospital death.</a:t>
            </a:r>
          </a:p>
          <a:p>
            <a:r>
              <a:rPr lang="en-US" dirty="0"/>
              <a:t>Table 5. Two-year clinical outcomes and MACE: all-cause death 1 (2.2%); cardiac death 1 (2.2%); TLR 1 (2.2%); target vessel MI 1 (2.2%); stent thrombosis 1 (2.2%); bleeding 0 (0%); stroke 0 (0%).</a:t>
            </a:r>
          </a:p>
          <a:p>
            <a:r>
              <a:rPr lang="en-US" dirty="0"/>
              <a:t>Two-year follow-up achieved in all patients (100%), mean 24.3 ± 2.1 months. The only death was the cardiac death during the index hospitalization.</a:t>
            </a:r>
          </a:p>
          <a:p>
            <a:r>
              <a:rPr lang="en-US" dirty="0"/>
              <a:t>Target vessel MI: angiography confirmed stent thrombosis at the LCX ostium; this patient had a two-stent (TAP) procedure and had stopped antiplatelets before a planned cataract surgery.</a:t>
            </a:r>
          </a:p>
          <a:p>
            <a:r>
              <a:rPr lang="en-US" dirty="0"/>
              <a:t>MACE-free survival at two years: 93.3% (abstract; Results: "over 93.3% of patients remaining free of major adverse events").</a:t>
            </a:r>
          </a:p>
          <a:p>
            <a:r>
              <a:rPr lang="en-US" dirty="0"/>
              <a:t>Note on a discrepancy in the article: the Discussion text states "the MACE-free survival rate was 97.8%". The slide uses 93.3% (abstract and Results); 97.78% is the Kaplan-Meier overall survival.</a:t>
            </a:r>
          </a:p>
          <a:p>
            <a:r>
              <a:rPr lang="en-US" dirty="0"/>
              <a:t>DAPT adherence: 42 of 44 discharged patients followed the one-year protocol; one stopped clopidogrel at 8 months for mild gum bleeding, one stopped antiplatelets at 7 months for planned cataract surgery; all were still taking aspirin at two years.</a:t>
            </a:r>
          </a:p>
          <a:p>
            <a:r>
              <a:rPr lang="en-US" dirty="0"/>
              <a:t>Table 8 (IVUS subgroup): no significant differences (all-cause death, cardiac death, stent thrombosis, TVMI each p = 0.289; TLR p =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37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6. Correlation analysis between clinical, angiographic and procedural variables (Pearson r, 95% CI, p; all p values marked significant in the article):</a:t>
            </a:r>
          </a:p>
          <a:p>
            <a:r>
              <a:rPr lang="en-US" dirty="0"/>
              <a:t>Age vs SYNTAX score r = 0.23 (0.02–0.42), p = 0.028; EuroSCORE II vs age r = 0.52 (0.34–0.67), p &lt; 0.001; LMCA stenosis % vs fluoroscopy time r = 0.31 (0.11–0.49), p = 0.003; contrast volume vs fluoroscopy time r = 0.38 (0.19–0.55), p = 0.001; burr size vs stent diameter r = 0.45 (0.26–0.61), p &lt; 0.001; SYNTAX score vs stent length r = 0.28 (0.08–0.46), p = 0.006.</a:t>
            </a:r>
          </a:p>
          <a:p>
            <a:r>
              <a:rPr lang="en-US" dirty="0"/>
              <a:t>Interpretation (Results 3.5): age relates to complex CAD; age is a component of EuroSCORE II; tighter calcified LMCA lesions needed longer burr times and more balloon predilatations; the strongest correlation, burr size vs stent diameter, means larger burrs were used for larger stents; higher SYNTAX scores received longer stents because of concomitant LAD and/or LCX involvement.</a:t>
            </a:r>
          </a:p>
          <a:p>
            <a:r>
              <a:rPr lang="en-US" dirty="0"/>
              <a:t>Subgroup analysis (3.6): SYNTAX ≤32 (n = 15): procedural success 100%, no adverse events at two years. SYNTAX &gt;32 (n = 30): procedural success 96.7%, two-year MACE 6.7% vs 0%, p = 0.28. Single-stent (n = 11) vs two-stent (n = 34): two-year TLR 0% vs 2.9%, p = 0.65. ACS (n = 39) vs stable (n = 6): no differences (p &gt; 0.05). No significant difference by IVUS use (Tables 7 and 8).</a:t>
            </a:r>
          </a:p>
          <a:p>
            <a:r>
              <a:rPr lang="en-US" dirty="0"/>
              <a:t>Fluoroscopy time trend: 25.1 ± 6.2 in 2020 vs 20.8 ± 4.9 in 2022, p = 0.08 (the article prints the unit as "s" here, while Table 3 reports fluoroscopy time in minutes).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78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comparisons (article Section 4 and Fig. 4). The values are different endpoints at different time points, so the bars are not like-for-like.</a:t>
            </a:r>
          </a:p>
          <a:p>
            <a:r>
              <a:rPr lang="en-US" dirty="0"/>
              <a:t>ROTATE registry (rotational atherectomy followed by stenting): in-hospital MACE 8.3%; two-year MACE 24.9%, driven by target vessel revascularization; dialysis was an independent predictor of in-hospital and two-year MACE [21].</a:t>
            </a:r>
          </a:p>
          <a:p>
            <a:r>
              <a:rPr lang="en-US" dirty="0"/>
              <a:t>Garcia-Lara (rotational atherectomy for severely calcified unprotected left main): two-year cardiac-mortality-free survival 71 ± 7%; two-year target vessel revascularization 19.3 ± 7% [24,25]. The survival figure is shown in the side panel, not as a bar, because it is a survival rate, not an event rate.</a:t>
            </a:r>
          </a:p>
          <a:p>
            <a:r>
              <a:rPr lang="en-US" dirty="0"/>
              <a:t>Bouisset et al.: MACE 13.2% at 1 year.</a:t>
            </a:r>
          </a:p>
          <a:p>
            <a:r>
              <a:rPr lang="en-US" dirty="0"/>
              <a:t>This study: 100% angiographic success, 2.2% in-hospital mortality, and 2.2% TLR at two years, described as favourable compared with contemporary series in this very high-risk population.</a:t>
            </a:r>
          </a:p>
          <a:p>
            <a:r>
              <a:rPr lang="en-US" dirty="0"/>
              <a:t>The article's Fig. 4 is a horizontal bar graph of all-cause mortality, TLR and overall survival versus the three studies; its caption cites "excellent two-year survival (97.8%)". This slide redraws only the rates stated in the Discussion text.</a:t>
            </a:r>
          </a:p>
          <a:p>
            <a:r>
              <a:rPr lang="en-US" dirty="0"/>
              <a:t>Discussion also notes: in-hospital mortality 2.2% similar to published studies [21,22]; no major procedural complications such as perforation or no-reflow; IVUS 75.6% and DK CRUSH in 71.1% of two-stent cases likely contributed to outcomes [26,27].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822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(Section 4.1, as stated in the article):</a:t>
            </a:r>
          </a:p>
          <a:p>
            <a:r>
              <a:rPr lang="en-US" dirty="0"/>
              <a:t>Single-centre study with a small sample size (n = 45), which limits the generalizability of the results and the strength of the conclusions.</a:t>
            </a:r>
          </a:p>
          <a:p>
            <a:r>
              <a:rPr lang="en-US" dirty="0"/>
              <a:t>No control group, such as patients with non-rotablation PCI or CABG, making outcome comparisons difficult.</a:t>
            </a:r>
          </a:p>
          <a:p>
            <a:r>
              <a:rPr lang="en-US" dirty="0"/>
              <a:t>No systematic angiographic follow-up; clinical or telephonic follow-up could have resulted in under-reporting of asymptomatic restenosis.</a:t>
            </a:r>
          </a:p>
          <a:p>
            <a:r>
              <a:rPr lang="en-US" dirty="0"/>
              <a:t>The study focused on the Rotablator RA system, so the results are not translatable to other atherectomy approaches such as orbital atherectomy and intravascular lithotripsy (IVL).</a:t>
            </a:r>
          </a:p>
          <a:p>
            <a:r>
              <a:rPr lang="en-US" dirty="0"/>
              <a:t>The Conclusion adds that multicentre prospective studies are needed to confirm these findings and develop standardized protocols for calcified left main lesions.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63266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fig1_flow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fig2_km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7315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ROTABLATION-ASSISTED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8138160" cy="8686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LEFT MAIN PCI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8138160" cy="5486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6E6F5"/>
                </a:solidFill>
                <a:latin typeface="Arial"/>
                <a:ea typeface="Arial"/>
                <a:cs typeface="Arial"/>
              </a:rPr>
              <a:t>A single centre experience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2743200"/>
            <a:ext cx="109728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2971800"/>
            <a:ext cx="8138160" cy="16459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Dr. Mohd Maqbool Sohil, MD, DM, FSCAI</a:t>
            </a:r>
            <a:endParaRPr lang="en-US" sz="24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Interventional Cardiologist</a:t>
            </a:r>
            <a:endParaRPr lang="en-US" sz="24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Sohil MM</a:t>
            </a:r>
            <a:r>
              <a:rPr lang="en-US" sz="1800" dirty="0" baseline="3000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Masood I</a:t>
            </a:r>
            <a:r>
              <a:rPr lang="en-US" sz="1800" dirty="0" baseline="30000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  <a:r>
              <a: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Goyal D</a:t>
            </a:r>
            <a:r>
              <a:rPr lang="en-US" sz="1800" dirty="0" baseline="30000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  <a:r>
              <a:rPr lang="en-US" sz="18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, Rashid H</a:t>
            </a:r>
            <a:r>
              <a:rPr lang="en-US" sz="1800" dirty="0" baseline="3000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  <a:endParaRPr lang="en-US" sz="2400" dirty="0"/>
          </a:p>
          <a:p>
            <a:pPr indent="0" marL="0">
              <a:buNone/>
            </a:pPr>
            <a:r>
              <a:rPr lang="en-US" sz="1600" dirty="0" baseline="3000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Paras Hospital Srinagar, J&amp;K   </a:t>
            </a:r>
            <a:r>
              <a:rPr lang="en-US" sz="1600" dirty="0" baseline="30000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  <a:r>
              <a:rPr lang="en-US" sz="16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Max Hospital Bathinda, Punjab, India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700016"/>
            <a:ext cx="813816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Am Heart J Plus: Cardiol Res Pract 2026;61:100678  |  doi:10.1016/j.ahjo.2025.100678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645152"/>
            <a:ext cx="9144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4645152"/>
            <a:ext cx="0" cy="49834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" y="4764024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6888" h="246888">
                <a:moveTo>
                  <a:pt x="109618" y="246888"/>
                </a:moveTo>
                <a:lnTo>
                  <a:pt x="109618" y="156280"/>
                </a:lnTo>
                <a:lnTo>
                  <a:pt x="45921" y="220471"/>
                </a:lnTo>
                <a:lnTo>
                  <a:pt x="26417" y="200967"/>
                </a:lnTo>
                <a:lnTo>
                  <a:pt x="90608" y="137270"/>
                </a:lnTo>
                <a:lnTo>
                  <a:pt x="0" y="137270"/>
                </a:lnTo>
                <a:lnTo>
                  <a:pt x="0" y="109618"/>
                </a:lnTo>
                <a:lnTo>
                  <a:pt x="90608" y="109618"/>
                </a:lnTo>
                <a:lnTo>
                  <a:pt x="26417" y="45921"/>
                </a:lnTo>
                <a:lnTo>
                  <a:pt x="45921" y="26417"/>
                </a:lnTo>
                <a:lnTo>
                  <a:pt x="109618" y="90608"/>
                </a:lnTo>
                <a:lnTo>
                  <a:pt x="109618" y="0"/>
                </a:lnTo>
                <a:lnTo>
                  <a:pt x="137270" y="0"/>
                </a:lnTo>
                <a:lnTo>
                  <a:pt x="137270" y="90608"/>
                </a:lnTo>
                <a:lnTo>
                  <a:pt x="200967" y="26417"/>
                </a:lnTo>
                <a:lnTo>
                  <a:pt x="220471" y="45921"/>
                </a:lnTo>
                <a:lnTo>
                  <a:pt x="156280" y="109618"/>
                </a:lnTo>
                <a:lnTo>
                  <a:pt x="246888" y="109618"/>
                </a:lnTo>
                <a:lnTo>
                  <a:pt x="246888" y="137270"/>
                </a:lnTo>
                <a:lnTo>
                  <a:pt x="156280" y="137270"/>
                </a:lnTo>
                <a:lnTo>
                  <a:pt x="220471" y="200967"/>
                </a:lnTo>
                <a:lnTo>
                  <a:pt x="200967" y="220471"/>
                </a:lnTo>
                <a:lnTo>
                  <a:pt x="137270" y="156280"/>
                </a:lnTo>
                <a:lnTo>
                  <a:pt x="137270" y="246888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3D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828800" cy="9144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8102E"/>
                </a:solidFill>
                <a:latin typeface="Arial"/>
                <a:ea typeface="Arial"/>
                <a:cs typeface="Arial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02920" y="1325880"/>
            <a:ext cx="8138160" cy="6400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D6E6F5"/>
                </a:solidFill>
                <a:latin typeface="Arial"/>
                <a:ea typeface="Arial"/>
                <a:cs typeface="Arial"/>
              </a:rPr>
              <a:t>BACKGROUND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2057400"/>
            <a:ext cx="8138160" cy="22860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Calcified left main disease makes PCI hard, yet for some patients PCI is the only option.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0" y="4645152"/>
            <a:ext cx="9144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4645152"/>
            <a:ext cx="0" cy="49834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" y="4764024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6888" h="246888">
                <a:moveTo>
                  <a:pt x="109618" y="246888"/>
                </a:moveTo>
                <a:lnTo>
                  <a:pt x="109618" y="156280"/>
                </a:lnTo>
                <a:lnTo>
                  <a:pt x="45921" y="220471"/>
                </a:lnTo>
                <a:lnTo>
                  <a:pt x="26417" y="200967"/>
                </a:lnTo>
                <a:lnTo>
                  <a:pt x="90608" y="137270"/>
                </a:lnTo>
                <a:lnTo>
                  <a:pt x="0" y="137270"/>
                </a:lnTo>
                <a:lnTo>
                  <a:pt x="0" y="109618"/>
                </a:lnTo>
                <a:lnTo>
                  <a:pt x="90608" y="109618"/>
                </a:lnTo>
                <a:lnTo>
                  <a:pt x="26417" y="45921"/>
                </a:lnTo>
                <a:lnTo>
                  <a:pt x="45921" y="26417"/>
                </a:lnTo>
                <a:lnTo>
                  <a:pt x="109618" y="90608"/>
                </a:lnTo>
                <a:lnTo>
                  <a:pt x="109618" y="0"/>
                </a:lnTo>
                <a:lnTo>
                  <a:pt x="137270" y="0"/>
                </a:lnTo>
                <a:lnTo>
                  <a:pt x="137270" y="90608"/>
                </a:lnTo>
                <a:lnTo>
                  <a:pt x="200967" y="26417"/>
                </a:lnTo>
                <a:lnTo>
                  <a:pt x="220471" y="45921"/>
                </a:lnTo>
                <a:lnTo>
                  <a:pt x="156280" y="109618"/>
                </a:lnTo>
                <a:lnTo>
                  <a:pt x="246888" y="109618"/>
                </a:lnTo>
                <a:lnTo>
                  <a:pt x="246888" y="137270"/>
                </a:lnTo>
                <a:lnTo>
                  <a:pt x="156280" y="137270"/>
                </a:lnTo>
                <a:lnTo>
                  <a:pt x="220471" y="200967"/>
                </a:lnTo>
                <a:lnTo>
                  <a:pt x="200967" y="220471"/>
                </a:lnTo>
                <a:lnTo>
                  <a:pt x="137270" y="156280"/>
                </a:lnTo>
                <a:lnTo>
                  <a:pt x="137270" y="2468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700016"/>
            <a:ext cx="65836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Sohil MM et al.  |  Am Heart J Plus 2026;61:100678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0" y="4700016"/>
            <a:ext cx="10972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8229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Why Indian data matter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0"/>
            <a:ext cx="8138160" cy="32461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marL="342900" indent="-342900">
              <a:spcAft>
                <a:spcPts val="1000"/>
              </a:spcAft>
              <a:buChar char="•"/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Extensive, multivessel, heavily calcified CAD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Char char="•"/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CAD a decade earlier than in the West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Char char="•"/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 burden of diabetes and dyslipidemia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Char char="•"/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DAPT compliance hit by cost and awareness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Char char="•"/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Little rotablation LM-PCI evidence from India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645152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4645152"/>
            <a:ext cx="0" cy="498348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" y="4764024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6888" h="246888">
                <a:moveTo>
                  <a:pt x="109618" y="246888"/>
                </a:moveTo>
                <a:lnTo>
                  <a:pt x="109618" y="156280"/>
                </a:lnTo>
                <a:lnTo>
                  <a:pt x="45921" y="220471"/>
                </a:lnTo>
                <a:lnTo>
                  <a:pt x="26417" y="200967"/>
                </a:lnTo>
                <a:lnTo>
                  <a:pt x="90608" y="137270"/>
                </a:lnTo>
                <a:lnTo>
                  <a:pt x="0" y="137270"/>
                </a:lnTo>
                <a:lnTo>
                  <a:pt x="0" y="109618"/>
                </a:lnTo>
                <a:lnTo>
                  <a:pt x="90608" y="109618"/>
                </a:lnTo>
                <a:lnTo>
                  <a:pt x="26417" y="45921"/>
                </a:lnTo>
                <a:lnTo>
                  <a:pt x="45921" y="26417"/>
                </a:lnTo>
                <a:lnTo>
                  <a:pt x="109618" y="90608"/>
                </a:lnTo>
                <a:lnTo>
                  <a:pt x="109618" y="0"/>
                </a:lnTo>
                <a:lnTo>
                  <a:pt x="137270" y="0"/>
                </a:lnTo>
                <a:lnTo>
                  <a:pt x="137270" y="90608"/>
                </a:lnTo>
                <a:lnTo>
                  <a:pt x="200967" y="26417"/>
                </a:lnTo>
                <a:lnTo>
                  <a:pt x="220471" y="45921"/>
                </a:lnTo>
                <a:lnTo>
                  <a:pt x="156280" y="109618"/>
                </a:lnTo>
                <a:lnTo>
                  <a:pt x="246888" y="109618"/>
                </a:lnTo>
                <a:lnTo>
                  <a:pt x="246888" y="137270"/>
                </a:lnTo>
                <a:lnTo>
                  <a:pt x="156280" y="137270"/>
                </a:lnTo>
                <a:lnTo>
                  <a:pt x="220471" y="200967"/>
                </a:lnTo>
                <a:lnTo>
                  <a:pt x="200967" y="220471"/>
                </a:lnTo>
                <a:lnTo>
                  <a:pt x="137270" y="156280"/>
                </a:lnTo>
                <a:lnTo>
                  <a:pt x="137270" y="246888"/>
                </a:lnTo>
                <a:close/>
              </a:path>
            </a:pathLst>
          </a:custGeom>
          <a:solidFill>
            <a:srgbClr val="0B3D6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700016"/>
            <a:ext cx="65836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Sohil MM et al.  |  Am Heart J Plus 2026;61:100678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0" y="4700016"/>
            <a:ext cx="10972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8229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Prospective study design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508760"/>
            <a:ext cx="252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45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243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consecutive patients,</a:t>
            </a:r>
            <a:b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</a:b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rota LM-PCI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15640" y="1463040"/>
            <a:ext cx="0" cy="2834640"/>
          </a:xfrm>
          <a:prstGeom prst="line">
            <a:avLst/>
          </a:prstGeom>
          <a:noFill/>
          <a:ln w="12700">
            <a:solidFill>
              <a:srgbClr val="0B3D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07080" y="1508760"/>
            <a:ext cx="252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2020–23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352800" y="2788920"/>
            <a:ext cx="243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enrolled Jan 2020 – Jan 2023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928360" y="1463040"/>
            <a:ext cx="0" cy="2834640"/>
          </a:xfrm>
          <a:prstGeom prst="line">
            <a:avLst/>
          </a:prstGeom>
          <a:noFill/>
          <a:ln w="12700">
            <a:solidFill>
              <a:srgbClr val="0B3D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19800" y="1508760"/>
            <a:ext cx="252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102E"/>
                </a:solidFill>
                <a:latin typeface="Arial"/>
                <a:ea typeface="Arial"/>
                <a:cs typeface="Arial"/>
              </a:rPr>
              <a:t>2 years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065520" y="2788920"/>
            <a:ext cx="243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follow-up, 100% complete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645152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" y="4645152"/>
            <a:ext cx="0" cy="498348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6304" y="4764024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6888" h="246888">
                <a:moveTo>
                  <a:pt x="109618" y="246888"/>
                </a:moveTo>
                <a:lnTo>
                  <a:pt x="109618" y="156280"/>
                </a:lnTo>
                <a:lnTo>
                  <a:pt x="45921" y="220471"/>
                </a:lnTo>
                <a:lnTo>
                  <a:pt x="26417" y="200967"/>
                </a:lnTo>
                <a:lnTo>
                  <a:pt x="90608" y="137270"/>
                </a:lnTo>
                <a:lnTo>
                  <a:pt x="0" y="137270"/>
                </a:lnTo>
                <a:lnTo>
                  <a:pt x="0" y="109618"/>
                </a:lnTo>
                <a:lnTo>
                  <a:pt x="90608" y="109618"/>
                </a:lnTo>
                <a:lnTo>
                  <a:pt x="26417" y="45921"/>
                </a:lnTo>
                <a:lnTo>
                  <a:pt x="45921" y="26417"/>
                </a:lnTo>
                <a:lnTo>
                  <a:pt x="109618" y="90608"/>
                </a:lnTo>
                <a:lnTo>
                  <a:pt x="109618" y="0"/>
                </a:lnTo>
                <a:lnTo>
                  <a:pt x="137270" y="0"/>
                </a:lnTo>
                <a:lnTo>
                  <a:pt x="137270" y="90608"/>
                </a:lnTo>
                <a:lnTo>
                  <a:pt x="200967" y="26417"/>
                </a:lnTo>
                <a:lnTo>
                  <a:pt x="220471" y="45921"/>
                </a:lnTo>
                <a:lnTo>
                  <a:pt x="156280" y="109618"/>
                </a:lnTo>
                <a:lnTo>
                  <a:pt x="246888" y="109618"/>
                </a:lnTo>
                <a:lnTo>
                  <a:pt x="246888" y="137270"/>
                </a:lnTo>
                <a:lnTo>
                  <a:pt x="156280" y="137270"/>
                </a:lnTo>
                <a:lnTo>
                  <a:pt x="220471" y="200967"/>
                </a:lnTo>
                <a:lnTo>
                  <a:pt x="200967" y="220471"/>
                </a:lnTo>
                <a:lnTo>
                  <a:pt x="137270" y="156280"/>
                </a:lnTo>
                <a:lnTo>
                  <a:pt x="137270" y="246888"/>
                </a:lnTo>
                <a:close/>
              </a:path>
            </a:pathLst>
          </a:custGeom>
          <a:solidFill>
            <a:srgbClr val="0B3D6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700016"/>
            <a:ext cx="65836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Sohil MM et al.  |  Am Heart J Plus 2026;61:100678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0" y="4700016"/>
            <a:ext cx="10972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8229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Elderly, high-risk cohort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048858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91640"/>
                <a:gridCol w="2377440"/>
                <a:gridCol w="16916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Clinical profile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history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 (%)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Age (years)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75.2 ± 5.9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Hypertension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38 (84.4%)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Male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31 (68.9%)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Diabetes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25 (55.6%)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LVEF (%)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43.3 ± 8.1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Previous PCI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 (33.3%)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SYNTAX score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40.1 ± 8.2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Previous CABG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 (24.4%)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EuroSCORE II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5.4 ± 1.9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NSTEMI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 (53.3%)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645152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521208" y="4645152"/>
            <a:ext cx="0" cy="498348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6304" y="4764024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6888" h="246888">
                <a:moveTo>
                  <a:pt x="109618" y="246888"/>
                </a:moveTo>
                <a:lnTo>
                  <a:pt x="109618" y="156280"/>
                </a:lnTo>
                <a:lnTo>
                  <a:pt x="45921" y="220471"/>
                </a:lnTo>
                <a:lnTo>
                  <a:pt x="26417" y="200967"/>
                </a:lnTo>
                <a:lnTo>
                  <a:pt x="90608" y="137270"/>
                </a:lnTo>
                <a:lnTo>
                  <a:pt x="0" y="137270"/>
                </a:lnTo>
                <a:lnTo>
                  <a:pt x="0" y="109618"/>
                </a:lnTo>
                <a:lnTo>
                  <a:pt x="90608" y="109618"/>
                </a:lnTo>
                <a:lnTo>
                  <a:pt x="26417" y="45921"/>
                </a:lnTo>
                <a:lnTo>
                  <a:pt x="45921" y="26417"/>
                </a:lnTo>
                <a:lnTo>
                  <a:pt x="109618" y="90608"/>
                </a:lnTo>
                <a:lnTo>
                  <a:pt x="109618" y="0"/>
                </a:lnTo>
                <a:lnTo>
                  <a:pt x="137270" y="0"/>
                </a:lnTo>
                <a:lnTo>
                  <a:pt x="137270" y="90608"/>
                </a:lnTo>
                <a:lnTo>
                  <a:pt x="200967" y="26417"/>
                </a:lnTo>
                <a:lnTo>
                  <a:pt x="220471" y="45921"/>
                </a:lnTo>
                <a:lnTo>
                  <a:pt x="156280" y="109618"/>
                </a:lnTo>
                <a:lnTo>
                  <a:pt x="246888" y="109618"/>
                </a:lnTo>
                <a:lnTo>
                  <a:pt x="246888" y="137270"/>
                </a:lnTo>
                <a:lnTo>
                  <a:pt x="156280" y="137270"/>
                </a:lnTo>
                <a:lnTo>
                  <a:pt x="220471" y="200967"/>
                </a:lnTo>
                <a:lnTo>
                  <a:pt x="200967" y="220471"/>
                </a:lnTo>
                <a:lnTo>
                  <a:pt x="137270" y="156280"/>
                </a:lnTo>
                <a:lnTo>
                  <a:pt x="137270" y="246888"/>
                </a:lnTo>
                <a:close/>
              </a:path>
            </a:pathLst>
          </a:custGeom>
          <a:solidFill>
            <a:srgbClr val="0B3D66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700016"/>
            <a:ext cx="65836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Sohil MM et al.  |  Am Heart J Plus 2026;61:100678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0" y="4700016"/>
            <a:ext cx="10972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8229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Mostly LM + 3-vessel CAD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502920" y="1234440"/>
          <a:ext cx="54864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325880"/>
            <a:ext cx="2468880" cy="3154680"/>
          </a:xfrm>
          <a:prstGeom prst="rect">
            <a:avLst/>
          </a:prstGeom>
          <a:solidFill>
            <a:srgbClr val="E6F1FA"/>
          </a:solidFill>
          <a:ln/>
        </p:spPr>
      </p:sp>
      <p:sp>
        <p:nvSpPr>
          <p:cNvPr id="6" name="Text 3"/>
          <p:cNvSpPr/>
          <p:nvPr/>
        </p:nvSpPr>
        <p:spPr>
          <a:xfrm>
            <a:off x="6309360" y="1463040"/>
            <a:ext cx="2240280" cy="292608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8102E"/>
                </a:solidFill>
                <a:latin typeface="Arial"/>
                <a:ea typeface="Arial"/>
                <a:cs typeface="Arial"/>
              </a:rPr>
              <a:t>86.7%</a:t>
            </a:r>
            <a:endParaRPr lang="en-US" sz="48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severe LMCA calcification</a:t>
            </a:r>
            <a:endParaRPr lang="en-US" sz="48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4000" b="1" dirty="0">
                <a:solidFill>
                  <a:srgbClr val="C8102E"/>
                </a:solidFill>
                <a:latin typeface="Arial"/>
                <a:ea typeface="Arial"/>
                <a:cs typeface="Arial"/>
              </a:rPr>
              <a:t>62.2%</a:t>
            </a:r>
            <a:endParaRPr lang="en-US" sz="48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distal LMCA lesion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0" y="4645152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1208" y="4645152"/>
            <a:ext cx="0" cy="498348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6304" y="4764024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6888" h="246888">
                <a:moveTo>
                  <a:pt x="109618" y="246888"/>
                </a:moveTo>
                <a:lnTo>
                  <a:pt x="109618" y="156280"/>
                </a:lnTo>
                <a:lnTo>
                  <a:pt x="45921" y="220471"/>
                </a:lnTo>
                <a:lnTo>
                  <a:pt x="26417" y="200967"/>
                </a:lnTo>
                <a:lnTo>
                  <a:pt x="90608" y="137270"/>
                </a:lnTo>
                <a:lnTo>
                  <a:pt x="0" y="137270"/>
                </a:lnTo>
                <a:lnTo>
                  <a:pt x="0" y="109618"/>
                </a:lnTo>
                <a:lnTo>
                  <a:pt x="90608" y="109618"/>
                </a:lnTo>
                <a:lnTo>
                  <a:pt x="26417" y="45921"/>
                </a:lnTo>
                <a:lnTo>
                  <a:pt x="45921" y="26417"/>
                </a:lnTo>
                <a:lnTo>
                  <a:pt x="109618" y="90608"/>
                </a:lnTo>
                <a:lnTo>
                  <a:pt x="109618" y="0"/>
                </a:lnTo>
                <a:lnTo>
                  <a:pt x="137270" y="0"/>
                </a:lnTo>
                <a:lnTo>
                  <a:pt x="137270" y="90608"/>
                </a:lnTo>
                <a:lnTo>
                  <a:pt x="200967" y="26417"/>
                </a:lnTo>
                <a:lnTo>
                  <a:pt x="220471" y="45921"/>
                </a:lnTo>
                <a:lnTo>
                  <a:pt x="156280" y="109618"/>
                </a:lnTo>
                <a:lnTo>
                  <a:pt x="246888" y="109618"/>
                </a:lnTo>
                <a:lnTo>
                  <a:pt x="246888" y="137270"/>
                </a:lnTo>
                <a:lnTo>
                  <a:pt x="156280" y="137270"/>
                </a:lnTo>
                <a:lnTo>
                  <a:pt x="220471" y="200967"/>
                </a:lnTo>
                <a:lnTo>
                  <a:pt x="200967" y="220471"/>
                </a:lnTo>
                <a:lnTo>
                  <a:pt x="137270" y="156280"/>
                </a:lnTo>
                <a:lnTo>
                  <a:pt x="137270" y="246888"/>
                </a:lnTo>
                <a:close/>
              </a:path>
            </a:pathLst>
          </a:custGeom>
          <a:solidFill>
            <a:srgbClr val="0B3D66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700016"/>
            <a:ext cx="65836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Sohil MM et al.  |  Am Heart J Plus 2026;61:100678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63840" y="4700016"/>
            <a:ext cx="10972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46451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0" name="Fig 1 patient selection" descr="Fig. 1. Flow diagram showing methodology for patient selection (Sohil et al., Am Heart J Plus 2026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191783"/>
            <a:ext cx="5029200" cy="4261585"/>
          </a:xfrm>
          <a:prstGeom prst="rect">
            <a:avLst/>
          </a:prstGeom>
          <a:ln w="9525">
            <a:solidFill>
              <a:srgbClr val="D6E6F5"/>
            </a:solidFill>
          </a:ln>
        </p:spPr>
      </p:pic>
      <p:sp>
        <p:nvSpPr>
          <p:cNvPr id="5" name="Text 3"/>
          <p:cNvSpPr/>
          <p:nvPr/>
        </p:nvSpPr>
        <p:spPr>
          <a:xfrm>
            <a:off x="5349240" y="228600"/>
            <a:ext cx="3566160" cy="10515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Patient selection (Fig. 1)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40680" y="1371600"/>
            <a:ext cx="1143000" cy="0"/>
          </a:xfrm>
          <a:prstGeom prst="line">
            <a:avLst/>
          </a:prstGeom>
          <a:noFill/>
          <a:ln w="381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49240" y="1508760"/>
            <a:ext cx="3566160" cy="30175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Heart team: SYNTAX &gt;32 advised CABG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PCI by patient choice after counselling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LMCA ≥50% + severe Ca or IVUS Ca score ≥2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4645152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4645152"/>
            <a:ext cx="0" cy="498348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" y="4764024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6888" h="246888">
                <a:moveTo>
                  <a:pt x="109618" y="246888"/>
                </a:moveTo>
                <a:lnTo>
                  <a:pt x="109618" y="156280"/>
                </a:lnTo>
                <a:lnTo>
                  <a:pt x="45921" y="220471"/>
                </a:lnTo>
                <a:lnTo>
                  <a:pt x="26417" y="200967"/>
                </a:lnTo>
                <a:lnTo>
                  <a:pt x="90608" y="137270"/>
                </a:lnTo>
                <a:lnTo>
                  <a:pt x="0" y="137270"/>
                </a:lnTo>
                <a:lnTo>
                  <a:pt x="0" y="109618"/>
                </a:lnTo>
                <a:lnTo>
                  <a:pt x="90608" y="109618"/>
                </a:lnTo>
                <a:lnTo>
                  <a:pt x="26417" y="45921"/>
                </a:lnTo>
                <a:lnTo>
                  <a:pt x="45921" y="26417"/>
                </a:lnTo>
                <a:lnTo>
                  <a:pt x="109618" y="90608"/>
                </a:lnTo>
                <a:lnTo>
                  <a:pt x="109618" y="0"/>
                </a:lnTo>
                <a:lnTo>
                  <a:pt x="137270" y="0"/>
                </a:lnTo>
                <a:lnTo>
                  <a:pt x="137270" y="90608"/>
                </a:lnTo>
                <a:lnTo>
                  <a:pt x="200967" y="26417"/>
                </a:lnTo>
                <a:lnTo>
                  <a:pt x="220471" y="45921"/>
                </a:lnTo>
                <a:lnTo>
                  <a:pt x="156280" y="109618"/>
                </a:lnTo>
                <a:lnTo>
                  <a:pt x="246888" y="109618"/>
                </a:lnTo>
                <a:lnTo>
                  <a:pt x="246888" y="137270"/>
                </a:lnTo>
                <a:lnTo>
                  <a:pt x="156280" y="137270"/>
                </a:lnTo>
                <a:lnTo>
                  <a:pt x="220471" y="200967"/>
                </a:lnTo>
                <a:lnTo>
                  <a:pt x="200967" y="220471"/>
                </a:lnTo>
                <a:lnTo>
                  <a:pt x="137270" y="156280"/>
                </a:lnTo>
                <a:lnTo>
                  <a:pt x="137270" y="246888"/>
                </a:lnTo>
                <a:close/>
              </a:path>
            </a:pathLst>
          </a:custGeom>
          <a:solidFill>
            <a:srgbClr val="0B3D6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700016"/>
            <a:ext cx="65836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Sohil MM et al.  |  Am Heart J Plus 2026;61:100678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0" y="4700016"/>
            <a:ext cx="10972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8229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Outcome definitions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25880"/>
            <a:ext cx="3931920" cy="548640"/>
          </a:xfrm>
          <a:prstGeom prst="rect">
            <a:avLst/>
          </a:prstGeom>
          <a:solidFill>
            <a:srgbClr val="0B3D66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1325880"/>
            <a:ext cx="3822191" cy="54864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In-hospital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3931920" cy="2560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marL="342900" indent="-342900">
              <a:spcAft>
                <a:spcPts val="1000"/>
              </a:spcAft>
              <a:buChar char="•"/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Angiographic: &lt;20% residual, TIMI 3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Char char="•"/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Procedural: no major complication, death, MI or emergency revasc.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31920" cy="548640"/>
          </a:xfrm>
          <a:prstGeom prst="rect">
            <a:avLst/>
          </a:prstGeom>
          <a:solidFill>
            <a:srgbClr val="0B3D66"/>
          </a:solidFill>
          <a:ln/>
        </p:spPr>
      </p:sp>
      <p:sp>
        <p:nvSpPr>
          <p:cNvPr id="8" name="Text 6"/>
          <p:cNvSpPr/>
          <p:nvPr/>
        </p:nvSpPr>
        <p:spPr>
          <a:xfrm>
            <a:off x="4818888" y="1325880"/>
            <a:ext cx="3822191" cy="54864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Two-year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09160" y="1965960"/>
            <a:ext cx="3931920" cy="2560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marL="342900" indent="-342900">
              <a:spcAft>
                <a:spcPts val="1000"/>
              </a:spcAft>
              <a:buChar char="•"/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MACE: cardiac death, nonfatal MI, TLR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Char char="•"/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Stent thrombosis (ARC), stroke, bleeding (BARC)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0" y="4645152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" y="4645152"/>
            <a:ext cx="0" cy="498348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" y="4764024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6888" h="246888">
                <a:moveTo>
                  <a:pt x="109618" y="246888"/>
                </a:moveTo>
                <a:lnTo>
                  <a:pt x="109618" y="156280"/>
                </a:lnTo>
                <a:lnTo>
                  <a:pt x="45921" y="220471"/>
                </a:lnTo>
                <a:lnTo>
                  <a:pt x="26417" y="200967"/>
                </a:lnTo>
                <a:lnTo>
                  <a:pt x="90608" y="137270"/>
                </a:lnTo>
                <a:lnTo>
                  <a:pt x="0" y="137270"/>
                </a:lnTo>
                <a:lnTo>
                  <a:pt x="0" y="109618"/>
                </a:lnTo>
                <a:lnTo>
                  <a:pt x="90608" y="109618"/>
                </a:lnTo>
                <a:lnTo>
                  <a:pt x="26417" y="45921"/>
                </a:lnTo>
                <a:lnTo>
                  <a:pt x="45921" y="26417"/>
                </a:lnTo>
                <a:lnTo>
                  <a:pt x="109618" y="90608"/>
                </a:lnTo>
                <a:lnTo>
                  <a:pt x="109618" y="0"/>
                </a:lnTo>
                <a:lnTo>
                  <a:pt x="137270" y="0"/>
                </a:lnTo>
                <a:lnTo>
                  <a:pt x="137270" y="90608"/>
                </a:lnTo>
                <a:lnTo>
                  <a:pt x="200967" y="26417"/>
                </a:lnTo>
                <a:lnTo>
                  <a:pt x="220471" y="45921"/>
                </a:lnTo>
                <a:lnTo>
                  <a:pt x="156280" y="109618"/>
                </a:lnTo>
                <a:lnTo>
                  <a:pt x="246888" y="109618"/>
                </a:lnTo>
                <a:lnTo>
                  <a:pt x="246888" y="137270"/>
                </a:lnTo>
                <a:lnTo>
                  <a:pt x="156280" y="137270"/>
                </a:lnTo>
                <a:lnTo>
                  <a:pt x="220471" y="200967"/>
                </a:lnTo>
                <a:lnTo>
                  <a:pt x="200967" y="220471"/>
                </a:lnTo>
                <a:lnTo>
                  <a:pt x="137270" y="156280"/>
                </a:lnTo>
                <a:lnTo>
                  <a:pt x="137270" y="246888"/>
                </a:lnTo>
                <a:close/>
              </a:path>
            </a:pathLst>
          </a:custGeom>
          <a:solidFill>
            <a:srgbClr val="0B3D6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700016"/>
            <a:ext cx="65836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Sohil MM et al.  |  Am Heart J Plus 2026;61:100678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63840" y="4700016"/>
            <a:ext cx="10972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8229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Take-home messages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9214" y="1465326"/>
            <a:ext cx="370332" cy="370332"/>
          </a:xfrm>
          <a:prstGeom prst="ellipse">
            <a:avLst/>
          </a:prstGeom>
          <a:ln w="41148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44752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80">
                <a:moveTo>
                  <a:pt x="176936" y="300380"/>
                </a:moveTo>
                <a:lnTo>
                  <a:pt x="322189" y="155539"/>
                </a:lnTo>
                <a:lnTo>
                  <a:pt x="292974" y="126324"/>
                </a:lnTo>
                <a:lnTo>
                  <a:pt x="176936" y="242773"/>
                </a:lnTo>
                <a:lnTo>
                  <a:pt x="118506" y="183932"/>
                </a:lnTo>
                <a:lnTo>
                  <a:pt x="89703" y="21314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7498080" cy="9144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Rota-assisted LM-PCI is feasible, safe and effective in severely calcified lesions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69214" y="2516886"/>
            <a:ext cx="370332" cy="370332"/>
          </a:xfrm>
          <a:prstGeom prst="ellipse">
            <a:avLst/>
          </a:prstGeom>
          <a:ln w="41148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96312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80">
                <a:moveTo>
                  <a:pt x="176936" y="300380"/>
                </a:moveTo>
                <a:lnTo>
                  <a:pt x="322189" y="155539"/>
                </a:lnTo>
                <a:lnTo>
                  <a:pt x="292974" y="126324"/>
                </a:lnTo>
                <a:lnTo>
                  <a:pt x="176936" y="242773"/>
                </a:lnTo>
                <a:lnTo>
                  <a:pt x="118506" y="183932"/>
                </a:lnTo>
                <a:lnTo>
                  <a:pt x="89703" y="21314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423160"/>
            <a:ext cx="7498080" cy="9144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Procedural success 97.8%, with a low rate of periprocedural complications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69214" y="3568446"/>
            <a:ext cx="370332" cy="370332"/>
          </a:xfrm>
          <a:prstGeom prst="ellipse">
            <a:avLst/>
          </a:prstGeom>
          <a:ln w="41148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547872"/>
            <a:ext cx="411480" cy="411480"/>
          </a:xfrm>
          <a:custGeom>
            <a:avLst/>
            <a:gdLst/>
            <a:ahLst/>
            <a:cxnLst/>
            <a:rect l="l" t="t" r="r" b="b"/>
            <a:pathLst>
              <a:path w="411480" h="411480">
                <a:moveTo>
                  <a:pt x="176936" y="300380"/>
                </a:moveTo>
                <a:lnTo>
                  <a:pt x="322189" y="155539"/>
                </a:lnTo>
                <a:lnTo>
                  <a:pt x="292974" y="126324"/>
                </a:lnTo>
                <a:lnTo>
                  <a:pt x="176936" y="242773"/>
                </a:lnTo>
                <a:lnTo>
                  <a:pt x="118506" y="183932"/>
                </a:lnTo>
                <a:lnTo>
                  <a:pt x="89703" y="21314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474720"/>
            <a:ext cx="7498080" cy="91440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Durable two-year outcomes: MACE-free survival 93.3%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0" y="4645152"/>
            <a:ext cx="9144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" y="4645152"/>
            <a:ext cx="0" cy="498348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6304" y="4764024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6888" h="246888">
                <a:moveTo>
                  <a:pt x="109618" y="246888"/>
                </a:moveTo>
                <a:lnTo>
                  <a:pt x="109618" y="156280"/>
                </a:lnTo>
                <a:lnTo>
                  <a:pt x="45921" y="220471"/>
                </a:lnTo>
                <a:lnTo>
                  <a:pt x="26417" y="200967"/>
                </a:lnTo>
                <a:lnTo>
                  <a:pt x="90608" y="137270"/>
                </a:lnTo>
                <a:lnTo>
                  <a:pt x="0" y="137270"/>
                </a:lnTo>
                <a:lnTo>
                  <a:pt x="0" y="109618"/>
                </a:lnTo>
                <a:lnTo>
                  <a:pt x="90608" y="109618"/>
                </a:lnTo>
                <a:lnTo>
                  <a:pt x="26417" y="45921"/>
                </a:lnTo>
                <a:lnTo>
                  <a:pt x="45921" y="26417"/>
                </a:lnTo>
                <a:lnTo>
                  <a:pt x="109618" y="90608"/>
                </a:lnTo>
                <a:lnTo>
                  <a:pt x="109618" y="0"/>
                </a:lnTo>
                <a:lnTo>
                  <a:pt x="137270" y="0"/>
                </a:lnTo>
                <a:lnTo>
                  <a:pt x="137270" y="90608"/>
                </a:lnTo>
                <a:lnTo>
                  <a:pt x="200967" y="26417"/>
                </a:lnTo>
                <a:lnTo>
                  <a:pt x="220471" y="45921"/>
                </a:lnTo>
                <a:lnTo>
                  <a:pt x="156280" y="109618"/>
                </a:lnTo>
                <a:lnTo>
                  <a:pt x="246888" y="109618"/>
                </a:lnTo>
                <a:lnTo>
                  <a:pt x="246888" y="137270"/>
                </a:lnTo>
                <a:lnTo>
                  <a:pt x="156280" y="137270"/>
                </a:lnTo>
                <a:lnTo>
                  <a:pt x="220471" y="200967"/>
                </a:lnTo>
                <a:lnTo>
                  <a:pt x="200967" y="220471"/>
                </a:lnTo>
                <a:lnTo>
                  <a:pt x="137270" y="156280"/>
                </a:lnTo>
                <a:lnTo>
                  <a:pt x="137270" y="2468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700016"/>
            <a:ext cx="65836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Sohil MM et al.  |  Am Heart J Plus 2026;61:100678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0" y="4700016"/>
            <a:ext cx="10972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16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11887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THANK YOU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566928" y="1737360"/>
            <a:ext cx="109728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920240"/>
            <a:ext cx="8138160" cy="260604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Questions and discussion</a:t>
            </a:r>
            <a:endParaRPr lang="en-US" sz="2600" dirty="0"/>
          </a:p>
          <a:p>
            <a:pPr indent="0" marL="0">
              <a:buNone/>
            </a:pPr>
            <a:r>
              <a:rPr lang="en-US" sz="2400" dirty="0" b="1">
                <a:solidFill>
                  <a:srgbClr val="0B3D66"/>
                </a:solidFill>
                <a:latin typeface="Arial"/>
                <a:ea typeface="Arial"/>
                <a:cs typeface="Arial"/>
              </a:rPr>
              <a:t>Dr. Mohd Maqbool Sohil, MD, DM, FSCAI</a:t>
            </a:r>
            <a:endParaRPr lang="en-US" sz="26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Interventional Cardiologist  |  drmaqboolsohil.deed.page</a:t>
            </a:r>
            <a:endParaRPr lang="en-US" sz="2600" dirty="0"/>
          </a:p>
          <a:p>
            <a:pPr indent="0" marL="0">
              <a:spcBef>
                <a:spcPts val="12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Sohil MM, Masood I, Goyal D, Rashid H. Single centre experience of rotablation-assisted left main percutaneous coronary intervention. Am Heart J Plus: Cardiol Res Pract 2026;61:100678.</a:t>
            </a:r>
            <a:endParaRPr lang="en-US" sz="2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doi:10.1016/j.ahjo.2025.100678  |  Open access, CC BY-NC-ND 4.0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645152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4645152"/>
            <a:ext cx="0" cy="498348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" y="4764024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6888" h="246888">
                <a:moveTo>
                  <a:pt x="109618" y="246888"/>
                </a:moveTo>
                <a:lnTo>
                  <a:pt x="109618" y="156280"/>
                </a:lnTo>
                <a:lnTo>
                  <a:pt x="45921" y="220471"/>
                </a:lnTo>
                <a:lnTo>
                  <a:pt x="26417" y="200967"/>
                </a:lnTo>
                <a:lnTo>
                  <a:pt x="90608" y="137270"/>
                </a:lnTo>
                <a:lnTo>
                  <a:pt x="0" y="137270"/>
                </a:lnTo>
                <a:lnTo>
                  <a:pt x="0" y="109618"/>
                </a:lnTo>
                <a:lnTo>
                  <a:pt x="90608" y="109618"/>
                </a:lnTo>
                <a:lnTo>
                  <a:pt x="26417" y="45921"/>
                </a:lnTo>
                <a:lnTo>
                  <a:pt x="45921" y="26417"/>
                </a:lnTo>
                <a:lnTo>
                  <a:pt x="109618" y="90608"/>
                </a:lnTo>
                <a:lnTo>
                  <a:pt x="109618" y="0"/>
                </a:lnTo>
                <a:lnTo>
                  <a:pt x="137270" y="0"/>
                </a:lnTo>
                <a:lnTo>
                  <a:pt x="137270" y="90608"/>
                </a:lnTo>
                <a:lnTo>
                  <a:pt x="200967" y="26417"/>
                </a:lnTo>
                <a:lnTo>
                  <a:pt x="220471" y="45921"/>
                </a:lnTo>
                <a:lnTo>
                  <a:pt x="156280" y="109618"/>
                </a:lnTo>
                <a:lnTo>
                  <a:pt x="246888" y="109618"/>
                </a:lnTo>
                <a:lnTo>
                  <a:pt x="246888" y="137270"/>
                </a:lnTo>
                <a:lnTo>
                  <a:pt x="156280" y="137270"/>
                </a:lnTo>
                <a:lnTo>
                  <a:pt x="220471" y="200967"/>
                </a:lnTo>
                <a:lnTo>
                  <a:pt x="200967" y="220471"/>
                </a:lnTo>
                <a:lnTo>
                  <a:pt x="137270" y="156280"/>
                </a:lnTo>
                <a:lnTo>
                  <a:pt x="137270" y="246888"/>
                </a:lnTo>
                <a:close/>
              </a:path>
            </a:pathLst>
          </a:custGeom>
          <a:solidFill>
            <a:srgbClr val="0B3D6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700016"/>
            <a:ext cx="65836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Sohil MM et al.  |  Am Heart J Plus 2026;61:100678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0" y="4700016"/>
            <a:ext cx="10972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17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8229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Rotablator RA technique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508760"/>
            <a:ext cx="252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0.7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243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target burr : artery ratio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15640" y="1463040"/>
            <a:ext cx="0" cy="2834640"/>
          </a:xfrm>
          <a:prstGeom prst="line">
            <a:avLst/>
          </a:prstGeom>
          <a:noFill/>
          <a:ln w="12700">
            <a:solidFill>
              <a:srgbClr val="0B3D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07080" y="1508760"/>
            <a:ext cx="252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1.25–2.0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352800" y="2788920"/>
            <a:ext cx="243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mm burrs; multiple if needed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928360" y="1463040"/>
            <a:ext cx="0" cy="2834640"/>
          </a:xfrm>
          <a:prstGeom prst="line">
            <a:avLst/>
          </a:prstGeom>
          <a:noFill/>
          <a:ln w="12700">
            <a:solidFill>
              <a:srgbClr val="0B3D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19800" y="1508760"/>
            <a:ext cx="252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102E"/>
                </a:solidFill>
                <a:latin typeface="Arial"/>
                <a:ea typeface="Arial"/>
                <a:cs typeface="Arial"/>
              </a:rPr>
              <a:t>140–180k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065520" y="2788920"/>
            <a:ext cx="243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rpm; burr runs &lt;30 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645152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" y="4645152"/>
            <a:ext cx="0" cy="498348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6304" y="4764024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6888" h="246888">
                <a:moveTo>
                  <a:pt x="109618" y="246888"/>
                </a:moveTo>
                <a:lnTo>
                  <a:pt x="109618" y="156280"/>
                </a:lnTo>
                <a:lnTo>
                  <a:pt x="45921" y="220471"/>
                </a:lnTo>
                <a:lnTo>
                  <a:pt x="26417" y="200967"/>
                </a:lnTo>
                <a:lnTo>
                  <a:pt x="90608" y="137270"/>
                </a:lnTo>
                <a:lnTo>
                  <a:pt x="0" y="137270"/>
                </a:lnTo>
                <a:lnTo>
                  <a:pt x="0" y="109618"/>
                </a:lnTo>
                <a:lnTo>
                  <a:pt x="90608" y="109618"/>
                </a:lnTo>
                <a:lnTo>
                  <a:pt x="26417" y="45921"/>
                </a:lnTo>
                <a:lnTo>
                  <a:pt x="45921" y="26417"/>
                </a:lnTo>
                <a:lnTo>
                  <a:pt x="109618" y="90608"/>
                </a:lnTo>
                <a:lnTo>
                  <a:pt x="109618" y="0"/>
                </a:lnTo>
                <a:lnTo>
                  <a:pt x="137270" y="0"/>
                </a:lnTo>
                <a:lnTo>
                  <a:pt x="137270" y="90608"/>
                </a:lnTo>
                <a:lnTo>
                  <a:pt x="200967" y="26417"/>
                </a:lnTo>
                <a:lnTo>
                  <a:pt x="220471" y="45921"/>
                </a:lnTo>
                <a:lnTo>
                  <a:pt x="156280" y="109618"/>
                </a:lnTo>
                <a:lnTo>
                  <a:pt x="246888" y="109618"/>
                </a:lnTo>
                <a:lnTo>
                  <a:pt x="246888" y="137270"/>
                </a:lnTo>
                <a:lnTo>
                  <a:pt x="156280" y="137270"/>
                </a:lnTo>
                <a:lnTo>
                  <a:pt x="220471" y="200967"/>
                </a:lnTo>
                <a:lnTo>
                  <a:pt x="200967" y="220471"/>
                </a:lnTo>
                <a:lnTo>
                  <a:pt x="137270" y="156280"/>
                </a:lnTo>
                <a:lnTo>
                  <a:pt x="137270" y="246888"/>
                </a:lnTo>
                <a:close/>
              </a:path>
            </a:pathLst>
          </a:custGeom>
          <a:solidFill>
            <a:srgbClr val="0B3D6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700016"/>
            <a:ext cx="65836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Sohil MM et al.  |  Am Heart J Plus 2026;61:100678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0" y="4700016"/>
            <a:ext cx="10972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8229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Procedural details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656917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00200"/>
                <a:gridCol w="2286000"/>
                <a:gridCol w="19659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Technique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 (%)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Parameter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Femoral access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38 (84.4%)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Max burr, mm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1.50 ± 0.13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7F guide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45 (100%)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Burrs/patient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1.11 ± 0.31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Two-stent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34 (75.6%)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Stent len., mm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22.98 ± 6.54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DK crush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 (71.1%)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Stent dia., mm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3.49 ± 0.40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IVUS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34 (75.6%)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IABP, n (%)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 (15.6%)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576" marR="36576" marT="73152" marB="7315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645152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521208" y="4645152"/>
            <a:ext cx="0" cy="498348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6304" y="4764024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6888" h="246888">
                <a:moveTo>
                  <a:pt x="109618" y="246888"/>
                </a:moveTo>
                <a:lnTo>
                  <a:pt x="109618" y="156280"/>
                </a:lnTo>
                <a:lnTo>
                  <a:pt x="45921" y="220471"/>
                </a:lnTo>
                <a:lnTo>
                  <a:pt x="26417" y="200967"/>
                </a:lnTo>
                <a:lnTo>
                  <a:pt x="90608" y="137270"/>
                </a:lnTo>
                <a:lnTo>
                  <a:pt x="0" y="137270"/>
                </a:lnTo>
                <a:lnTo>
                  <a:pt x="0" y="109618"/>
                </a:lnTo>
                <a:lnTo>
                  <a:pt x="90608" y="109618"/>
                </a:lnTo>
                <a:lnTo>
                  <a:pt x="26417" y="45921"/>
                </a:lnTo>
                <a:lnTo>
                  <a:pt x="45921" y="26417"/>
                </a:lnTo>
                <a:lnTo>
                  <a:pt x="109618" y="90608"/>
                </a:lnTo>
                <a:lnTo>
                  <a:pt x="109618" y="0"/>
                </a:lnTo>
                <a:lnTo>
                  <a:pt x="137270" y="0"/>
                </a:lnTo>
                <a:lnTo>
                  <a:pt x="137270" y="90608"/>
                </a:lnTo>
                <a:lnTo>
                  <a:pt x="200967" y="26417"/>
                </a:lnTo>
                <a:lnTo>
                  <a:pt x="220471" y="45921"/>
                </a:lnTo>
                <a:lnTo>
                  <a:pt x="156280" y="109618"/>
                </a:lnTo>
                <a:lnTo>
                  <a:pt x="246888" y="109618"/>
                </a:lnTo>
                <a:lnTo>
                  <a:pt x="246888" y="137270"/>
                </a:lnTo>
                <a:lnTo>
                  <a:pt x="156280" y="137270"/>
                </a:lnTo>
                <a:lnTo>
                  <a:pt x="220471" y="200967"/>
                </a:lnTo>
                <a:lnTo>
                  <a:pt x="200967" y="220471"/>
                </a:lnTo>
                <a:lnTo>
                  <a:pt x="137270" y="156280"/>
                </a:lnTo>
                <a:lnTo>
                  <a:pt x="137270" y="246888"/>
                </a:lnTo>
                <a:close/>
              </a:path>
            </a:pathLst>
          </a:custGeom>
          <a:solidFill>
            <a:srgbClr val="0B3D66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700016"/>
            <a:ext cx="65836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Sohil MM et al.  |  Am Heart J Plus 2026;61:100678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0" y="4700016"/>
            <a:ext cx="10972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8229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In-hospital outcomes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508760"/>
            <a:ext cx="252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100%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243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angiographic success (45/45)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15640" y="1463040"/>
            <a:ext cx="0" cy="2834640"/>
          </a:xfrm>
          <a:prstGeom prst="line">
            <a:avLst/>
          </a:prstGeom>
          <a:noFill/>
          <a:ln w="12700">
            <a:solidFill>
              <a:srgbClr val="0B3D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07080" y="1508760"/>
            <a:ext cx="252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97.8%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352800" y="2788920"/>
            <a:ext cx="243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procedural success (44/45)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928360" y="1463040"/>
            <a:ext cx="0" cy="2834640"/>
          </a:xfrm>
          <a:prstGeom prst="line">
            <a:avLst/>
          </a:prstGeom>
          <a:noFill/>
          <a:ln w="12700">
            <a:solidFill>
              <a:srgbClr val="0B3D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19800" y="1508760"/>
            <a:ext cx="2529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8102E"/>
                </a:solidFill>
                <a:latin typeface="Arial"/>
                <a:ea typeface="Arial"/>
                <a:cs typeface="Arial"/>
              </a:rPr>
              <a:t>2.2%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065520" y="2788920"/>
            <a:ext cx="243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in-hospital death (1/45)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645152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" y="4645152"/>
            <a:ext cx="0" cy="498348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6304" y="4764024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6888" h="246888">
                <a:moveTo>
                  <a:pt x="109618" y="246888"/>
                </a:moveTo>
                <a:lnTo>
                  <a:pt x="109618" y="156280"/>
                </a:lnTo>
                <a:lnTo>
                  <a:pt x="45921" y="220471"/>
                </a:lnTo>
                <a:lnTo>
                  <a:pt x="26417" y="200967"/>
                </a:lnTo>
                <a:lnTo>
                  <a:pt x="90608" y="137270"/>
                </a:lnTo>
                <a:lnTo>
                  <a:pt x="0" y="137270"/>
                </a:lnTo>
                <a:lnTo>
                  <a:pt x="0" y="109618"/>
                </a:lnTo>
                <a:lnTo>
                  <a:pt x="90608" y="109618"/>
                </a:lnTo>
                <a:lnTo>
                  <a:pt x="26417" y="45921"/>
                </a:lnTo>
                <a:lnTo>
                  <a:pt x="45921" y="26417"/>
                </a:lnTo>
                <a:lnTo>
                  <a:pt x="109618" y="90608"/>
                </a:lnTo>
                <a:lnTo>
                  <a:pt x="109618" y="0"/>
                </a:lnTo>
                <a:lnTo>
                  <a:pt x="137270" y="0"/>
                </a:lnTo>
                <a:lnTo>
                  <a:pt x="137270" y="90608"/>
                </a:lnTo>
                <a:lnTo>
                  <a:pt x="200967" y="26417"/>
                </a:lnTo>
                <a:lnTo>
                  <a:pt x="220471" y="45921"/>
                </a:lnTo>
                <a:lnTo>
                  <a:pt x="156280" y="109618"/>
                </a:lnTo>
                <a:lnTo>
                  <a:pt x="246888" y="109618"/>
                </a:lnTo>
                <a:lnTo>
                  <a:pt x="246888" y="137270"/>
                </a:lnTo>
                <a:lnTo>
                  <a:pt x="156280" y="137270"/>
                </a:lnTo>
                <a:lnTo>
                  <a:pt x="220471" y="200967"/>
                </a:lnTo>
                <a:lnTo>
                  <a:pt x="200967" y="220471"/>
                </a:lnTo>
                <a:lnTo>
                  <a:pt x="137270" y="156280"/>
                </a:lnTo>
                <a:lnTo>
                  <a:pt x="137270" y="246888"/>
                </a:lnTo>
                <a:close/>
              </a:path>
            </a:pathLst>
          </a:custGeom>
          <a:solidFill>
            <a:srgbClr val="0B3D6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700016"/>
            <a:ext cx="65836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Sohil MM et al.  |  Am Heart J Plus 2026;61:100678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63840" y="4700016"/>
            <a:ext cx="10972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4645152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1" name="Fig 2 KM overall survival" descr="Fig. 2. Kaplan-Meier survival analysis curve to assess overall survival (Sohil et al., Am Heart J Plus 2026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" y="250291"/>
            <a:ext cx="5029200" cy="4144569"/>
          </a:xfrm>
          <a:prstGeom prst="rect">
            <a:avLst/>
          </a:prstGeom>
          <a:ln w="9525">
            <a:solidFill>
              <a:srgbClr val="D6E6F5"/>
            </a:solidFill>
          </a:ln>
        </p:spPr>
      </p:pic>
      <p:sp>
        <p:nvSpPr>
          <p:cNvPr id="5" name="Text 3"/>
          <p:cNvSpPr/>
          <p:nvPr/>
        </p:nvSpPr>
        <p:spPr>
          <a:xfrm>
            <a:off x="5349240" y="228600"/>
            <a:ext cx="3566160" cy="10515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Two-year outcomes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40680" y="1371600"/>
            <a:ext cx="1143000" cy="0"/>
          </a:xfrm>
          <a:prstGeom prst="line">
            <a:avLst/>
          </a:prstGeom>
          <a:noFill/>
          <a:ln w="381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49240" y="1463040"/>
            <a:ext cx="3566160" cy="31089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Overall survival </a:t>
            </a:r>
            <a:r>
              <a:rPr lang="en-US" sz="2400" dirty="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97.78%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(Fig. 2, Kaplan-Meier)</a:t>
            </a:r>
            <a:endParaRPr lang="en-US" sz="22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MACE-free </a:t>
            </a:r>
            <a:r>
              <a:rPr lang="en-US" sz="2400" dirty="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93.3%</a:t>
            </a:r>
            <a:endParaRPr lang="en-US" sz="22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death, 1 TLR, 1 TVMI</a:t>
            </a:r>
            <a:endParaRPr lang="en-US" sz="2200" dirty="0"/>
          </a:p>
          <a:p>
            <a:pPr indent="0" marL="0"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bleeding or stroke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4645152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4645152"/>
            <a:ext cx="0" cy="498348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" y="4764024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6888" h="246888">
                <a:moveTo>
                  <a:pt x="109618" y="246888"/>
                </a:moveTo>
                <a:lnTo>
                  <a:pt x="109618" y="156280"/>
                </a:lnTo>
                <a:lnTo>
                  <a:pt x="45921" y="220471"/>
                </a:lnTo>
                <a:lnTo>
                  <a:pt x="26417" y="200967"/>
                </a:lnTo>
                <a:lnTo>
                  <a:pt x="90608" y="137270"/>
                </a:lnTo>
                <a:lnTo>
                  <a:pt x="0" y="137270"/>
                </a:lnTo>
                <a:lnTo>
                  <a:pt x="0" y="109618"/>
                </a:lnTo>
                <a:lnTo>
                  <a:pt x="90608" y="109618"/>
                </a:lnTo>
                <a:lnTo>
                  <a:pt x="26417" y="45921"/>
                </a:lnTo>
                <a:lnTo>
                  <a:pt x="45921" y="26417"/>
                </a:lnTo>
                <a:lnTo>
                  <a:pt x="109618" y="90608"/>
                </a:lnTo>
                <a:lnTo>
                  <a:pt x="109618" y="0"/>
                </a:lnTo>
                <a:lnTo>
                  <a:pt x="137270" y="0"/>
                </a:lnTo>
                <a:lnTo>
                  <a:pt x="137270" y="90608"/>
                </a:lnTo>
                <a:lnTo>
                  <a:pt x="200967" y="26417"/>
                </a:lnTo>
                <a:lnTo>
                  <a:pt x="220471" y="45921"/>
                </a:lnTo>
                <a:lnTo>
                  <a:pt x="156280" y="109618"/>
                </a:lnTo>
                <a:lnTo>
                  <a:pt x="246888" y="109618"/>
                </a:lnTo>
                <a:lnTo>
                  <a:pt x="246888" y="137270"/>
                </a:lnTo>
                <a:lnTo>
                  <a:pt x="156280" y="137270"/>
                </a:lnTo>
                <a:lnTo>
                  <a:pt x="220471" y="200967"/>
                </a:lnTo>
                <a:lnTo>
                  <a:pt x="200967" y="220471"/>
                </a:lnTo>
                <a:lnTo>
                  <a:pt x="137270" y="156280"/>
                </a:lnTo>
                <a:lnTo>
                  <a:pt x="137270" y="246888"/>
                </a:lnTo>
                <a:close/>
              </a:path>
            </a:pathLst>
          </a:custGeom>
          <a:solidFill>
            <a:srgbClr val="0B3D6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700016"/>
            <a:ext cx="65836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Sohil MM et al.  |  Am Heart J Plus 2026;61:100678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0" y="4700016"/>
            <a:ext cx="10972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8229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Correlation analysis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144359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3794760"/>
                <a:gridCol w="1508760"/>
                <a:gridCol w="1737360"/>
                <a:gridCol w="109728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Variable pair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Pearson r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CI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Age vs SYNTAX score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0.23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0.02–0.42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0.028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EuroSCORE II vs age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0.52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0.34–0.67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LMCA stenosis vs fluoro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0.31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0.11–0.49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0.003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Contrast vs fluoro time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0.38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0.19–0.55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0.001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Burr size vs stent diam.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0.45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0.26–0.61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&lt;0.001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SYNTAX vs stent length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0.28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0.08–0.46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0.006</a:t>
                      </a:r>
                      <a:endParaRPr lang="en-US"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645152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10" name="Shape 3"/>
          <p:cNvSpPr/>
          <p:nvPr/>
        </p:nvSpPr>
        <p:spPr>
          <a:xfrm>
            <a:off x="521208" y="4645152"/>
            <a:ext cx="0" cy="498348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6304" y="4764024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6888" h="246888">
                <a:moveTo>
                  <a:pt x="109618" y="246888"/>
                </a:moveTo>
                <a:lnTo>
                  <a:pt x="109618" y="156280"/>
                </a:lnTo>
                <a:lnTo>
                  <a:pt x="45921" y="220471"/>
                </a:lnTo>
                <a:lnTo>
                  <a:pt x="26417" y="200967"/>
                </a:lnTo>
                <a:lnTo>
                  <a:pt x="90608" y="137270"/>
                </a:lnTo>
                <a:lnTo>
                  <a:pt x="0" y="137270"/>
                </a:lnTo>
                <a:lnTo>
                  <a:pt x="0" y="109618"/>
                </a:lnTo>
                <a:lnTo>
                  <a:pt x="90608" y="109618"/>
                </a:lnTo>
                <a:lnTo>
                  <a:pt x="26417" y="45921"/>
                </a:lnTo>
                <a:lnTo>
                  <a:pt x="45921" y="26417"/>
                </a:lnTo>
                <a:lnTo>
                  <a:pt x="109618" y="90608"/>
                </a:lnTo>
                <a:lnTo>
                  <a:pt x="109618" y="0"/>
                </a:lnTo>
                <a:lnTo>
                  <a:pt x="137270" y="0"/>
                </a:lnTo>
                <a:lnTo>
                  <a:pt x="137270" y="90608"/>
                </a:lnTo>
                <a:lnTo>
                  <a:pt x="200967" y="26417"/>
                </a:lnTo>
                <a:lnTo>
                  <a:pt x="220471" y="45921"/>
                </a:lnTo>
                <a:lnTo>
                  <a:pt x="156280" y="109618"/>
                </a:lnTo>
                <a:lnTo>
                  <a:pt x="246888" y="109618"/>
                </a:lnTo>
                <a:lnTo>
                  <a:pt x="246888" y="137270"/>
                </a:lnTo>
                <a:lnTo>
                  <a:pt x="156280" y="137270"/>
                </a:lnTo>
                <a:lnTo>
                  <a:pt x="220471" y="200967"/>
                </a:lnTo>
                <a:lnTo>
                  <a:pt x="200967" y="220471"/>
                </a:lnTo>
                <a:lnTo>
                  <a:pt x="137270" y="156280"/>
                </a:lnTo>
                <a:lnTo>
                  <a:pt x="137270" y="246888"/>
                </a:lnTo>
                <a:close/>
              </a:path>
            </a:pathLst>
          </a:custGeom>
          <a:solidFill>
            <a:srgbClr val="0B3D66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700016"/>
            <a:ext cx="65836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Sohil MM et al.  |  Am Heart J Plus 2026;61:100678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863840" y="4700016"/>
            <a:ext cx="10972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13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8229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Endpoints differ by study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274320" y="1234440"/>
          <a:ext cx="57607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325880"/>
            <a:ext cx="2468880" cy="3154680"/>
          </a:xfrm>
          <a:prstGeom prst="rect">
            <a:avLst/>
          </a:prstGeom>
          <a:solidFill>
            <a:srgbClr val="E6F1FA"/>
          </a:solidFill>
          <a:ln/>
        </p:spPr>
      </p:sp>
      <p:sp>
        <p:nvSpPr>
          <p:cNvPr id="6" name="Text 3"/>
          <p:cNvSpPr/>
          <p:nvPr/>
        </p:nvSpPr>
        <p:spPr>
          <a:xfrm>
            <a:off x="6236208" y="1371600"/>
            <a:ext cx="2377440" cy="31089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Arial"/>
                <a:ea typeface="Arial"/>
                <a:cs typeface="Arial"/>
              </a:rPr>
              <a:t>Not like-for-like</a:t>
            </a:r>
            <a:endParaRPr lang="en-US" sz="4800" dirty="0"/>
          </a:p>
          <a:p>
            <a:pPr indent="0" marL="0">
              <a:spcBef>
                <a:spcPts val="1200"/>
              </a:spcBef>
              <a:buNone/>
            </a:pPr>
            <a:r>
              <a:rPr lang="en-US" sz="20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Garcia-Lara 2-yr cardiac-mortality-free survival</a:t>
            </a:r>
            <a:endParaRPr lang="en-US" sz="48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71 ± 7%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0" y="4645152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21208" y="4645152"/>
            <a:ext cx="0" cy="498348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6304" y="4764024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6888" h="246888">
                <a:moveTo>
                  <a:pt x="109618" y="246888"/>
                </a:moveTo>
                <a:lnTo>
                  <a:pt x="109618" y="156280"/>
                </a:lnTo>
                <a:lnTo>
                  <a:pt x="45921" y="220471"/>
                </a:lnTo>
                <a:lnTo>
                  <a:pt x="26417" y="200967"/>
                </a:lnTo>
                <a:lnTo>
                  <a:pt x="90608" y="137270"/>
                </a:lnTo>
                <a:lnTo>
                  <a:pt x="0" y="137270"/>
                </a:lnTo>
                <a:lnTo>
                  <a:pt x="0" y="109618"/>
                </a:lnTo>
                <a:lnTo>
                  <a:pt x="90608" y="109618"/>
                </a:lnTo>
                <a:lnTo>
                  <a:pt x="26417" y="45921"/>
                </a:lnTo>
                <a:lnTo>
                  <a:pt x="45921" y="26417"/>
                </a:lnTo>
                <a:lnTo>
                  <a:pt x="109618" y="90608"/>
                </a:lnTo>
                <a:lnTo>
                  <a:pt x="109618" y="0"/>
                </a:lnTo>
                <a:lnTo>
                  <a:pt x="137270" y="0"/>
                </a:lnTo>
                <a:lnTo>
                  <a:pt x="137270" y="90608"/>
                </a:lnTo>
                <a:lnTo>
                  <a:pt x="200967" y="26417"/>
                </a:lnTo>
                <a:lnTo>
                  <a:pt x="220471" y="45921"/>
                </a:lnTo>
                <a:lnTo>
                  <a:pt x="156280" y="109618"/>
                </a:lnTo>
                <a:lnTo>
                  <a:pt x="246888" y="109618"/>
                </a:lnTo>
                <a:lnTo>
                  <a:pt x="246888" y="137270"/>
                </a:lnTo>
                <a:lnTo>
                  <a:pt x="156280" y="137270"/>
                </a:lnTo>
                <a:lnTo>
                  <a:pt x="220471" y="200967"/>
                </a:lnTo>
                <a:lnTo>
                  <a:pt x="200967" y="220471"/>
                </a:lnTo>
                <a:lnTo>
                  <a:pt x="137270" y="156280"/>
                </a:lnTo>
                <a:lnTo>
                  <a:pt x="137270" y="246888"/>
                </a:lnTo>
                <a:close/>
              </a:path>
            </a:pathLst>
          </a:custGeom>
          <a:solidFill>
            <a:srgbClr val="0B3D66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700016"/>
            <a:ext cx="65836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Sohil MM et al.  |  Am Heart J Plus 2026;61:100678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63840" y="4700016"/>
            <a:ext cx="10972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14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138160" cy="82296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Limitations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25880"/>
            <a:ext cx="3931920" cy="548640"/>
          </a:xfrm>
          <a:prstGeom prst="rect">
            <a:avLst/>
          </a:prstGeom>
          <a:solidFill>
            <a:srgbClr val="0B3D66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1325880"/>
            <a:ext cx="3822191" cy="54864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3931920" cy="2560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marL="342900" indent="-342900">
              <a:spcAft>
                <a:spcPts val="1000"/>
              </a:spcAft>
              <a:buChar char="•"/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Single centre, small sample (n = 45)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Char char="•"/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control group (non-rota PCI or CABG)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31920" cy="548640"/>
          </a:xfrm>
          <a:prstGeom prst="rect">
            <a:avLst/>
          </a:prstGeom>
          <a:solidFill>
            <a:srgbClr val="0B3D66"/>
          </a:solidFill>
          <a:ln/>
        </p:spPr>
      </p:sp>
      <p:sp>
        <p:nvSpPr>
          <p:cNvPr id="8" name="Text 6"/>
          <p:cNvSpPr/>
          <p:nvPr/>
        </p:nvSpPr>
        <p:spPr>
          <a:xfrm>
            <a:off x="4818888" y="1325880"/>
            <a:ext cx="3822191" cy="54864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Scope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09160" y="1965960"/>
            <a:ext cx="3931920" cy="2560320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t"/>
          <a:lstStyle/>
          <a:p>
            <a:pPr marL="342900" indent="-342900">
              <a:spcAft>
                <a:spcPts val="1000"/>
              </a:spcAft>
              <a:buChar char="•"/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systematic angiographic follow-up</a:t>
            </a:r>
            <a:endParaRPr lang="en-US" sz="2600" dirty="0"/>
          </a:p>
          <a:p>
            <a:pPr marL="342900" indent="-342900">
              <a:spcAft>
                <a:spcPts val="1000"/>
              </a:spcAft>
              <a:buChar char="•"/>
            </a:pPr>
            <a:r>
              <a:rPr lang="en-US" sz="26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Rotablator RA only: not orbital or IVL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0" y="4645152"/>
            <a:ext cx="9144000" cy="0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208" y="4645152"/>
            <a:ext cx="0" cy="498348"/>
          </a:xfrm>
          <a:prstGeom prst="line">
            <a:avLst/>
          </a:prstGeom>
          <a:noFill/>
          <a:ln w="19050">
            <a:solidFill>
              <a:srgbClr val="0B3D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" y="4764024"/>
            <a:ext cx="246888" cy="246888"/>
          </a:xfrm>
          <a:custGeom>
            <a:avLst/>
            <a:gdLst/>
            <a:ahLst/>
            <a:cxnLst/>
            <a:rect l="l" t="t" r="r" b="b"/>
            <a:pathLst>
              <a:path w="246888" h="246888">
                <a:moveTo>
                  <a:pt x="109618" y="246888"/>
                </a:moveTo>
                <a:lnTo>
                  <a:pt x="109618" y="156280"/>
                </a:lnTo>
                <a:lnTo>
                  <a:pt x="45921" y="220471"/>
                </a:lnTo>
                <a:lnTo>
                  <a:pt x="26417" y="200967"/>
                </a:lnTo>
                <a:lnTo>
                  <a:pt x="90608" y="137270"/>
                </a:lnTo>
                <a:lnTo>
                  <a:pt x="0" y="137270"/>
                </a:lnTo>
                <a:lnTo>
                  <a:pt x="0" y="109618"/>
                </a:lnTo>
                <a:lnTo>
                  <a:pt x="90608" y="109618"/>
                </a:lnTo>
                <a:lnTo>
                  <a:pt x="26417" y="45921"/>
                </a:lnTo>
                <a:lnTo>
                  <a:pt x="45921" y="26417"/>
                </a:lnTo>
                <a:lnTo>
                  <a:pt x="109618" y="90608"/>
                </a:lnTo>
                <a:lnTo>
                  <a:pt x="109618" y="0"/>
                </a:lnTo>
                <a:lnTo>
                  <a:pt x="137270" y="0"/>
                </a:lnTo>
                <a:lnTo>
                  <a:pt x="137270" y="90608"/>
                </a:lnTo>
                <a:lnTo>
                  <a:pt x="200967" y="26417"/>
                </a:lnTo>
                <a:lnTo>
                  <a:pt x="220471" y="45921"/>
                </a:lnTo>
                <a:lnTo>
                  <a:pt x="156280" y="109618"/>
                </a:lnTo>
                <a:lnTo>
                  <a:pt x="246888" y="109618"/>
                </a:lnTo>
                <a:lnTo>
                  <a:pt x="246888" y="137270"/>
                </a:lnTo>
                <a:lnTo>
                  <a:pt x="156280" y="137270"/>
                </a:lnTo>
                <a:lnTo>
                  <a:pt x="220471" y="200967"/>
                </a:lnTo>
                <a:lnTo>
                  <a:pt x="200967" y="220471"/>
                </a:lnTo>
                <a:lnTo>
                  <a:pt x="137270" y="156280"/>
                </a:lnTo>
                <a:lnTo>
                  <a:pt x="137270" y="246888"/>
                </a:lnTo>
                <a:close/>
              </a:path>
            </a:pathLst>
          </a:custGeom>
          <a:solidFill>
            <a:srgbClr val="0B3D6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700016"/>
            <a:ext cx="65836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Sohil MM et al.  |  Am Heart J Plus 2026;61:100678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63840" y="4700016"/>
            <a:ext cx="1097280" cy="384048"/>
          </a:xfrm>
          <a:prstGeom prst="rect">
            <a:avLst/>
          </a:prstGeom>
          <a:noFill/>
          <a:ln/>
        </p:spPr>
        <p:txBody>
          <a:bodyPr wrap="square" lIns="68580" tIns="34290" rIns="68580" bIns="3429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3D66"/>
                </a:solidFill>
                <a:latin typeface="Arial"/>
                <a:ea typeface="Arial"/>
                <a:cs typeface="Arial"/>
              </a:rPr>
              <a:t>15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Rotablation-assisted left main PCI</vt:lpstr>
      <vt:lpstr>Background</vt:lpstr>
      <vt:lpstr>Why Indian data matter</vt:lpstr>
      <vt:lpstr>Prospective study design</vt:lpstr>
      <vt:lpstr>Patient selection (Fig. 1)</vt:lpstr>
      <vt:lpstr>Rotablator RA technique</vt:lpstr>
      <vt:lpstr>Outcome definitions</vt:lpstr>
      <vt:lpstr>Elderly, high-risk cohort</vt:lpstr>
      <vt:lpstr>Mostly LM + 3-vessel CAD</vt:lpstr>
      <vt:lpstr>Procedural details</vt:lpstr>
      <vt:lpstr>In-hospital outcomes</vt:lpstr>
      <vt:lpstr>Two-year outcomes</vt:lpstr>
      <vt:lpstr>Correlation analysis</vt:lpstr>
      <vt:lpstr>Endpoints differ by study</vt:lpstr>
      <vt:lpstr>Limitations</vt:lpstr>
      <vt:lpstr>Take-home messages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Rotablation-assisted left main PCI: single centre experience</dc:title>
  <dc:subject>Rotablation-assisted left main PCI</dc:subject>
  <dc:creator>Dr. Mohd Maqbool Sohil</dc:creator>
  <cp:lastModifiedBy>Dr. Mohd Maqbool Sohil</cp:lastModifiedBy>
  <cp:revision>2</cp:revision>
  <dcterms:created xsi:type="dcterms:W3CDTF">2026-10-22T02:43:14Z</dcterms:created>
  <dcterms:modified xsi:type="dcterms:W3CDTF">2026-10-22T03:19:58Z</dcterms:modified>
</cp:coreProperties>
</file>